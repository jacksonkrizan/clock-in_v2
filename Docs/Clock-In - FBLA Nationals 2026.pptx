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1188720"/>
            <a:ext cx="2743200" cy="2743200"/>
          </a:xfrm>
          <a:prstGeom prst="ellipse">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72600" y="1691640"/>
            <a:ext cx="1737360" cy="1737360"/>
          </a:xfrm>
          <a:prstGeom prst="ellipse">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2240280"/>
            <a:ext cx="2743200" cy="640080"/>
          </a:xfrm>
          <a:prstGeom prst="rect">
            <a:avLst/>
          </a:prstGeom>
          <a:noFill/>
        </p:spPr>
        <p:txBody>
          <a:bodyPr wrap="square" anchor="t" lIns="0" rIns="0" tIns="0" bIns="0">
            <a:spAutoFit/>
          </a:bodyPr>
          <a:lstStyle/>
          <a:p>
            <a:pPr algn="ctr">
              <a:lnSpc>
                <a:spcPct val="100000"/>
              </a:lnSpc>
              <a:spcBef>
                <a:spcPts val="0"/>
              </a:spcBef>
              <a:spcAft>
                <a:spcPts val="600"/>
              </a:spcAft>
            </a:pPr>
            <a:r>
              <a:rPr sz="2400" b="1" i="0">
                <a:solidFill>
                  <a:srgbClr val="2DD4EE"/>
                </a:solidFill>
                <a:latin typeface="Calibri"/>
              </a:rPr>
              <a:t>9 to 5</a:t>
            </a:r>
          </a:p>
        </p:txBody>
      </p:sp>
      <p:sp>
        <p:nvSpPr>
          <p:cNvPr id="7" name="TextBox 6"/>
          <p:cNvSpPr txBox="1"/>
          <p:nvPr/>
        </p:nvSpPr>
        <p:spPr>
          <a:xfrm>
            <a:off x="822960" y="1554480"/>
            <a:ext cx="7772400" cy="45720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2DD4EE"/>
                </a:solidFill>
                <a:latin typeface="Calibri"/>
              </a:rPr>
              <a:t>PARALLEL PLAY  PRESENTS</a:t>
            </a:r>
          </a:p>
        </p:txBody>
      </p:sp>
      <p:sp>
        <p:nvSpPr>
          <p:cNvPr id="8" name="TextBox 7"/>
          <p:cNvSpPr txBox="1"/>
          <p:nvPr/>
        </p:nvSpPr>
        <p:spPr>
          <a:xfrm>
            <a:off x="822960" y="1965960"/>
            <a:ext cx="8229600" cy="1463040"/>
          </a:xfrm>
          <a:prstGeom prst="rect">
            <a:avLst/>
          </a:prstGeom>
          <a:noFill/>
        </p:spPr>
        <p:txBody>
          <a:bodyPr wrap="square" anchor="t" lIns="0" rIns="0" tIns="0" bIns="0">
            <a:spAutoFit/>
          </a:bodyPr>
          <a:lstStyle/>
          <a:p>
            <a:pPr algn="l">
              <a:lnSpc>
                <a:spcPct val="100000"/>
              </a:lnSpc>
              <a:spcBef>
                <a:spcPts val="0"/>
              </a:spcBef>
              <a:spcAft>
                <a:spcPts val="600"/>
              </a:spcAft>
            </a:pPr>
            <a:r>
              <a:rPr sz="7600" b="1" i="0">
                <a:solidFill>
                  <a:srgbClr val="FFFFFF"/>
                </a:solidFill>
                <a:latin typeface="Calibri"/>
              </a:rPr>
              <a:t>CLOCK-IN</a:t>
            </a:r>
          </a:p>
        </p:txBody>
      </p:sp>
      <p:sp>
        <p:nvSpPr>
          <p:cNvPr id="9" name="TextBox 8"/>
          <p:cNvSpPr txBox="1"/>
          <p:nvPr/>
        </p:nvSpPr>
        <p:spPr>
          <a:xfrm>
            <a:off x="868680" y="3246120"/>
            <a:ext cx="7772400" cy="548640"/>
          </a:xfrm>
          <a:prstGeom prst="rect">
            <a:avLst/>
          </a:prstGeom>
          <a:noFill/>
        </p:spPr>
        <p:txBody>
          <a:bodyPr wrap="square" anchor="t" lIns="0" rIns="0" tIns="0" bIns="0">
            <a:spAutoFit/>
          </a:bodyPr>
          <a:lstStyle/>
          <a:p>
            <a:pPr algn="l">
              <a:lnSpc>
                <a:spcPct val="100000"/>
              </a:lnSpc>
              <a:spcBef>
                <a:spcPts val="0"/>
              </a:spcBef>
              <a:spcAft>
                <a:spcPts val="600"/>
              </a:spcAft>
            </a:pPr>
            <a:r>
              <a:rPr sz="1900" b="0" i="1">
                <a:solidFill>
                  <a:srgbClr val="F1F5F9"/>
                </a:solidFill>
                <a:latin typeface="Calibri"/>
              </a:rPr>
              <a:t>Experience real careers through multiplayer mini-games.</a:t>
            </a:r>
          </a:p>
        </p:txBody>
      </p:sp>
      <p:sp>
        <p:nvSpPr>
          <p:cNvPr id="10" name="Rectangle 9"/>
          <p:cNvSpPr/>
          <p:nvPr/>
        </p:nvSpPr>
        <p:spPr>
          <a:xfrm>
            <a:off x="868680" y="3977639"/>
            <a:ext cx="4206240" cy="3657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60520"/>
            <a:ext cx="10058400" cy="411480"/>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38BDF8"/>
                </a:solidFill>
                <a:latin typeface="Calibri"/>
              </a:rPr>
              <a:t>FBLA National Leadership Conference 2026</a:t>
            </a:r>
          </a:p>
        </p:txBody>
      </p:sp>
      <p:sp>
        <p:nvSpPr>
          <p:cNvPr id="12" name="TextBox 11"/>
          <p:cNvSpPr txBox="1"/>
          <p:nvPr/>
        </p:nvSpPr>
        <p:spPr>
          <a:xfrm>
            <a:off x="868680" y="4526280"/>
            <a:ext cx="10058400" cy="411480"/>
          </a:xfrm>
          <a:prstGeom prst="rect">
            <a:avLst/>
          </a:prstGeom>
          <a:noFill/>
        </p:spPr>
        <p:txBody>
          <a:bodyPr wrap="square" anchor="t" lIns="0" rIns="0" tIns="0" bIns="0">
            <a:spAutoFit/>
          </a:bodyPr>
          <a:lstStyle/>
          <a:p>
            <a:pPr algn="l">
              <a:lnSpc>
                <a:spcPct val="100000"/>
              </a:lnSpc>
              <a:spcBef>
                <a:spcPts val="0"/>
              </a:spcBef>
              <a:spcAft>
                <a:spcPts val="600"/>
              </a:spcAft>
            </a:pPr>
            <a:r>
              <a:rPr sz="1400" b="0" i="0">
                <a:solidFill>
                  <a:srgbClr val="9FB3C8"/>
                </a:solidFill>
                <a:latin typeface="Calibri"/>
              </a:rPr>
              <a:t>Computer Game &amp; Simulation Programming</a:t>
            </a:r>
          </a:p>
        </p:txBody>
      </p:sp>
      <p:sp>
        <p:nvSpPr>
          <p:cNvPr id="13" name="TextBox 12"/>
          <p:cNvSpPr txBox="1"/>
          <p:nvPr/>
        </p:nvSpPr>
        <p:spPr>
          <a:xfrm>
            <a:off x="868680" y="5257800"/>
            <a:ext cx="10058400" cy="8229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2DD4EE"/>
                </a:solidFill>
                <a:latin typeface="Calibri"/>
              </a:rPr>
              <a:t>CREATED BY</a:t>
            </a:r>
          </a:p>
          <a:p>
            <a:pPr algn="l">
              <a:lnSpc>
                <a:spcPct val="100000"/>
              </a:lnSpc>
              <a:spcBef>
                <a:spcPts val="0"/>
              </a:spcBef>
              <a:spcAft>
                <a:spcPts val="400"/>
              </a:spcAft>
            </a:pPr>
            <a:r>
              <a:rPr sz="1700" b="1" i="0">
                <a:solidFill>
                  <a:srgbClr val="F1F5F9"/>
                </a:solidFill>
                <a:latin typeface="Calibri"/>
              </a:rPr>
              <a:t>Jackson Krizan   ·   Blayne Campbell   ·   Jakob Escueta</a:t>
            </a:r>
          </a:p>
          <a:p>
            <a:pPr algn="l">
              <a:lnSpc>
                <a:spcPct val="100000"/>
              </a:lnSpc>
              <a:spcBef>
                <a:spcPts val="0"/>
              </a:spcBef>
              <a:spcAft>
                <a:spcPts val="400"/>
              </a:spcAft>
            </a:pPr>
            <a:r>
              <a:rPr sz="1200" b="0" i="0">
                <a:solidFill>
                  <a:srgbClr val="9FB3C8"/>
                </a:solidFill>
                <a:latin typeface="Calibri"/>
              </a:rPr>
              <a:t>Built in Unity with C#  ·  Photon PUN 2 multiplayer  ·  Firebase cloud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ROADMAP</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Table of Contents</a:t>
            </a:r>
          </a:p>
        </p:txBody>
      </p:sp>
      <p:sp>
        <p:nvSpPr>
          <p:cNvPr id="5" name="Rectangle 4"/>
          <p:cNvSpPr/>
          <p:nvPr/>
        </p:nvSpPr>
        <p:spPr>
          <a:xfrm>
            <a:off x="713232" y="178308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783080"/>
            <a:ext cx="82296" cy="841248"/>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178308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2DD4EE"/>
                </a:solidFill>
                <a:latin typeface="Calibri"/>
              </a:rPr>
              <a:t>01</a:t>
            </a:r>
          </a:p>
        </p:txBody>
      </p:sp>
      <p:sp>
        <p:nvSpPr>
          <p:cNvPr id="8" name="TextBox 7"/>
          <p:cNvSpPr txBox="1"/>
          <p:nvPr/>
        </p:nvSpPr>
        <p:spPr>
          <a:xfrm>
            <a:off x="1856232" y="190195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Introduction</a:t>
            </a:r>
          </a:p>
          <a:p>
            <a:pPr algn="l">
              <a:lnSpc>
                <a:spcPct val="100000"/>
              </a:lnSpc>
              <a:spcBef>
                <a:spcPts val="0"/>
              </a:spcBef>
              <a:spcAft>
                <a:spcPts val="200"/>
              </a:spcAft>
            </a:pPr>
            <a:r>
              <a:rPr sz="1100" b="0" i="0">
                <a:solidFill>
                  <a:srgbClr val="9FB3C8"/>
                </a:solidFill>
                <a:latin typeface="Calibri"/>
              </a:rPr>
              <a:t>The idea behind Clock-In</a:t>
            </a:r>
          </a:p>
        </p:txBody>
      </p:sp>
      <p:sp>
        <p:nvSpPr>
          <p:cNvPr id="9" name="Rectangle 8"/>
          <p:cNvSpPr/>
          <p:nvPr/>
        </p:nvSpPr>
        <p:spPr>
          <a:xfrm>
            <a:off x="713232" y="274320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2743200"/>
            <a:ext cx="82296" cy="841248"/>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74320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2DD4EE"/>
                </a:solidFill>
                <a:latin typeface="Calibri"/>
              </a:rPr>
              <a:t>02</a:t>
            </a:r>
          </a:p>
        </p:txBody>
      </p:sp>
      <p:sp>
        <p:nvSpPr>
          <p:cNvPr id="12" name="TextBox 11"/>
          <p:cNvSpPr txBox="1"/>
          <p:nvPr/>
        </p:nvSpPr>
        <p:spPr>
          <a:xfrm>
            <a:off x="1856232" y="286207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The Game</a:t>
            </a:r>
          </a:p>
          <a:p>
            <a:pPr algn="l">
              <a:lnSpc>
                <a:spcPct val="100000"/>
              </a:lnSpc>
              <a:spcBef>
                <a:spcPts val="0"/>
              </a:spcBef>
              <a:spcAft>
                <a:spcPts val="200"/>
              </a:spcAft>
            </a:pPr>
            <a:r>
              <a:rPr sz="1100" b="0" i="0">
                <a:solidFill>
                  <a:srgbClr val="9FB3C8"/>
                </a:solidFill>
                <a:latin typeface="Calibri"/>
              </a:rPr>
              <a:t>Themes, goals &amp; core concepts</a:t>
            </a:r>
          </a:p>
        </p:txBody>
      </p:sp>
      <p:sp>
        <p:nvSpPr>
          <p:cNvPr id="13" name="Rectangle 12"/>
          <p:cNvSpPr/>
          <p:nvPr/>
        </p:nvSpPr>
        <p:spPr>
          <a:xfrm>
            <a:off x="713232" y="370332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 y="3703320"/>
            <a:ext cx="82296" cy="841248"/>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70332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F5C242"/>
                </a:solidFill>
                <a:latin typeface="Calibri"/>
              </a:rPr>
              <a:t>03</a:t>
            </a:r>
          </a:p>
        </p:txBody>
      </p:sp>
      <p:sp>
        <p:nvSpPr>
          <p:cNvPr id="16" name="TextBox 15"/>
          <p:cNvSpPr txBox="1"/>
          <p:nvPr/>
        </p:nvSpPr>
        <p:spPr>
          <a:xfrm>
            <a:off x="1856232" y="382219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The Jobs</a:t>
            </a:r>
          </a:p>
          <a:p>
            <a:pPr algn="l">
              <a:lnSpc>
                <a:spcPct val="100000"/>
              </a:lnSpc>
              <a:spcBef>
                <a:spcPts val="0"/>
              </a:spcBef>
              <a:spcAft>
                <a:spcPts val="200"/>
              </a:spcAft>
            </a:pPr>
            <a:r>
              <a:rPr sz="1100" b="0" i="0">
                <a:solidFill>
                  <a:srgbClr val="9FB3C8"/>
                </a:solidFill>
                <a:latin typeface="Calibri"/>
              </a:rPr>
              <a:t>Four careers, one world</a:t>
            </a:r>
          </a:p>
        </p:txBody>
      </p:sp>
      <p:sp>
        <p:nvSpPr>
          <p:cNvPr id="17" name="Rectangle 16"/>
          <p:cNvSpPr/>
          <p:nvPr/>
        </p:nvSpPr>
        <p:spPr>
          <a:xfrm>
            <a:off x="713232" y="466344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663440"/>
            <a:ext cx="82296" cy="841248"/>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466344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F5C242"/>
                </a:solidFill>
                <a:latin typeface="Calibri"/>
              </a:rPr>
              <a:t>04</a:t>
            </a:r>
          </a:p>
        </p:txBody>
      </p:sp>
      <p:sp>
        <p:nvSpPr>
          <p:cNvPr id="20" name="TextBox 19"/>
          <p:cNvSpPr txBox="1"/>
          <p:nvPr/>
        </p:nvSpPr>
        <p:spPr>
          <a:xfrm>
            <a:off x="1856232" y="478231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Gameplay Spotlight</a:t>
            </a:r>
          </a:p>
          <a:p>
            <a:pPr algn="l">
              <a:lnSpc>
                <a:spcPct val="100000"/>
              </a:lnSpc>
              <a:spcBef>
                <a:spcPts val="0"/>
              </a:spcBef>
              <a:spcAft>
                <a:spcPts val="200"/>
              </a:spcAft>
            </a:pPr>
            <a:r>
              <a:rPr sz="1100" b="0" i="0">
                <a:solidFill>
                  <a:srgbClr val="9FB3C8"/>
                </a:solidFill>
                <a:latin typeface="Calibri"/>
              </a:rPr>
              <a:t>Inside the networking mini-game</a:t>
            </a:r>
          </a:p>
        </p:txBody>
      </p:sp>
      <p:sp>
        <p:nvSpPr>
          <p:cNvPr id="21" name="Rectangle 20"/>
          <p:cNvSpPr/>
          <p:nvPr/>
        </p:nvSpPr>
        <p:spPr>
          <a:xfrm>
            <a:off x="713232" y="562356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5623560"/>
            <a:ext cx="82296" cy="84124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562356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38BDF8"/>
                </a:solidFill>
                <a:latin typeface="Calibri"/>
              </a:rPr>
              <a:t>05</a:t>
            </a:r>
          </a:p>
        </p:txBody>
      </p:sp>
      <p:sp>
        <p:nvSpPr>
          <p:cNvPr id="24" name="TextBox 23"/>
          <p:cNvSpPr txBox="1"/>
          <p:nvPr/>
        </p:nvSpPr>
        <p:spPr>
          <a:xfrm>
            <a:off x="1856232" y="574243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Multiplayer</a:t>
            </a:r>
          </a:p>
          <a:p>
            <a:pPr algn="l">
              <a:lnSpc>
                <a:spcPct val="100000"/>
              </a:lnSpc>
              <a:spcBef>
                <a:spcPts val="0"/>
              </a:spcBef>
              <a:spcAft>
                <a:spcPts val="200"/>
              </a:spcAft>
            </a:pPr>
            <a:r>
              <a:rPr sz="1100" b="0" i="0">
                <a:solidFill>
                  <a:srgbClr val="9FB3C8"/>
                </a:solidFill>
                <a:latin typeface="Calibri"/>
              </a:rPr>
              <a:t>Real-time play with Photon</a:t>
            </a:r>
          </a:p>
        </p:txBody>
      </p:sp>
      <p:sp>
        <p:nvSpPr>
          <p:cNvPr id="25" name="Rectangle 24"/>
          <p:cNvSpPr/>
          <p:nvPr/>
        </p:nvSpPr>
        <p:spPr>
          <a:xfrm>
            <a:off x="6382512" y="178308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82512" y="1783080"/>
            <a:ext cx="82296" cy="84124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178308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38BDF8"/>
                </a:solidFill>
                <a:latin typeface="Calibri"/>
              </a:rPr>
              <a:t>06</a:t>
            </a:r>
          </a:p>
        </p:txBody>
      </p:sp>
      <p:sp>
        <p:nvSpPr>
          <p:cNvPr id="28" name="TextBox 27"/>
          <p:cNvSpPr txBox="1"/>
          <p:nvPr/>
        </p:nvSpPr>
        <p:spPr>
          <a:xfrm>
            <a:off x="7525512" y="190195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Live Scoreboard</a:t>
            </a:r>
          </a:p>
          <a:p>
            <a:pPr algn="l">
              <a:lnSpc>
                <a:spcPct val="100000"/>
              </a:lnSpc>
              <a:spcBef>
                <a:spcPts val="0"/>
              </a:spcBef>
              <a:spcAft>
                <a:spcPts val="200"/>
              </a:spcAft>
            </a:pPr>
            <a:r>
              <a:rPr sz="1100" b="0" i="0">
                <a:solidFill>
                  <a:srgbClr val="9FB3C8"/>
                </a:solidFill>
                <a:latin typeface="Calibri"/>
              </a:rPr>
              <a:t>Competing in real time</a:t>
            </a:r>
          </a:p>
        </p:txBody>
      </p:sp>
      <p:sp>
        <p:nvSpPr>
          <p:cNvPr id="29" name="Rectangle 28"/>
          <p:cNvSpPr/>
          <p:nvPr/>
        </p:nvSpPr>
        <p:spPr>
          <a:xfrm>
            <a:off x="6382512" y="274320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82512" y="2743200"/>
            <a:ext cx="82296" cy="8412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38544" y="274320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34D399"/>
                </a:solidFill>
                <a:latin typeface="Calibri"/>
              </a:rPr>
              <a:t>07</a:t>
            </a:r>
          </a:p>
        </p:txBody>
      </p:sp>
      <p:sp>
        <p:nvSpPr>
          <p:cNvPr id="32" name="TextBox 31"/>
          <p:cNvSpPr txBox="1"/>
          <p:nvPr/>
        </p:nvSpPr>
        <p:spPr>
          <a:xfrm>
            <a:off x="7525512" y="286207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Accounts &amp; Leaderboard</a:t>
            </a:r>
          </a:p>
          <a:p>
            <a:pPr algn="l">
              <a:lnSpc>
                <a:spcPct val="100000"/>
              </a:lnSpc>
              <a:spcBef>
                <a:spcPts val="0"/>
              </a:spcBef>
              <a:spcAft>
                <a:spcPts val="200"/>
              </a:spcAft>
            </a:pPr>
            <a:r>
              <a:rPr sz="1100" b="0" i="0">
                <a:solidFill>
                  <a:srgbClr val="9FB3C8"/>
                </a:solidFill>
                <a:latin typeface="Calibri"/>
              </a:rPr>
              <a:t>Cloud progression with Firebase</a:t>
            </a:r>
          </a:p>
        </p:txBody>
      </p:sp>
      <p:sp>
        <p:nvSpPr>
          <p:cNvPr id="33" name="Rectangle 32"/>
          <p:cNvSpPr/>
          <p:nvPr/>
        </p:nvSpPr>
        <p:spPr>
          <a:xfrm>
            <a:off x="6382512" y="370332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82512" y="3703320"/>
            <a:ext cx="82296" cy="8412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38544" y="370332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34D399"/>
                </a:solidFill>
                <a:latin typeface="Calibri"/>
              </a:rPr>
              <a:t>08</a:t>
            </a:r>
          </a:p>
        </p:txBody>
      </p:sp>
      <p:sp>
        <p:nvSpPr>
          <p:cNvPr id="36" name="TextBox 35"/>
          <p:cNvSpPr txBox="1"/>
          <p:nvPr/>
        </p:nvSpPr>
        <p:spPr>
          <a:xfrm>
            <a:off x="7525512" y="382219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Tech &amp; Process</a:t>
            </a:r>
          </a:p>
          <a:p>
            <a:pPr algn="l">
              <a:lnSpc>
                <a:spcPct val="100000"/>
              </a:lnSpc>
              <a:spcBef>
                <a:spcPts val="0"/>
              </a:spcBef>
              <a:spcAft>
                <a:spcPts val="200"/>
              </a:spcAft>
            </a:pPr>
            <a:r>
              <a:rPr sz="1100" b="0" i="0">
                <a:solidFill>
                  <a:srgbClr val="9FB3C8"/>
                </a:solidFill>
                <a:latin typeface="Calibri"/>
              </a:rPr>
              <a:t>Our stack, tools &amp; teamwork</a:t>
            </a:r>
          </a:p>
        </p:txBody>
      </p:sp>
      <p:sp>
        <p:nvSpPr>
          <p:cNvPr id="37" name="Rectangle 36"/>
          <p:cNvSpPr/>
          <p:nvPr/>
        </p:nvSpPr>
        <p:spPr>
          <a:xfrm>
            <a:off x="6382512" y="466344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82512" y="4663440"/>
            <a:ext cx="82296" cy="841248"/>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38544" y="466344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2DD4EE"/>
                </a:solidFill>
                <a:latin typeface="Calibri"/>
              </a:rPr>
              <a:t>09</a:t>
            </a:r>
          </a:p>
        </p:txBody>
      </p:sp>
      <p:sp>
        <p:nvSpPr>
          <p:cNvPr id="40" name="TextBox 39"/>
          <p:cNvSpPr txBox="1"/>
          <p:nvPr/>
        </p:nvSpPr>
        <p:spPr>
          <a:xfrm>
            <a:off x="7525512" y="478231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New Since State</a:t>
            </a:r>
          </a:p>
          <a:p>
            <a:pPr algn="l">
              <a:lnSpc>
                <a:spcPct val="100000"/>
              </a:lnSpc>
              <a:spcBef>
                <a:spcPts val="0"/>
              </a:spcBef>
              <a:spcAft>
                <a:spcPts val="200"/>
              </a:spcAft>
            </a:pPr>
            <a:r>
              <a:rPr sz="1100" b="0" i="0">
                <a:solidFill>
                  <a:srgbClr val="9FB3C8"/>
                </a:solidFill>
                <a:latin typeface="Calibri"/>
              </a:rPr>
              <a:t>How far we've come</a:t>
            </a:r>
          </a:p>
        </p:txBody>
      </p:sp>
      <p:sp>
        <p:nvSpPr>
          <p:cNvPr id="41" name="Rectangle 40"/>
          <p:cNvSpPr/>
          <p:nvPr/>
        </p:nvSpPr>
        <p:spPr>
          <a:xfrm>
            <a:off x="6382512" y="5623560"/>
            <a:ext cx="5349240" cy="84124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82512" y="5623560"/>
            <a:ext cx="82296" cy="841248"/>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38544" y="5623560"/>
            <a:ext cx="914400" cy="841248"/>
          </a:xfrm>
          <a:prstGeom prst="rect">
            <a:avLst/>
          </a:prstGeom>
          <a:noFill/>
        </p:spPr>
        <p:txBody>
          <a:bodyPr wrap="square" anchor="ctr" lIns="0" rIns="0" tIns="0" bIns="0">
            <a:spAutoFit/>
          </a:bodyPr>
          <a:lstStyle/>
          <a:p>
            <a:pPr algn="l">
              <a:lnSpc>
                <a:spcPct val="100000"/>
              </a:lnSpc>
              <a:spcBef>
                <a:spcPts val="0"/>
              </a:spcBef>
              <a:spcAft>
                <a:spcPts val="600"/>
              </a:spcAft>
            </a:pPr>
            <a:r>
              <a:rPr sz="2600" b="1" i="0">
                <a:solidFill>
                  <a:srgbClr val="2DD4EE"/>
                </a:solidFill>
                <a:latin typeface="Calibri"/>
              </a:rPr>
              <a:t>10</a:t>
            </a:r>
          </a:p>
        </p:txBody>
      </p:sp>
      <p:sp>
        <p:nvSpPr>
          <p:cNvPr id="44" name="TextBox 43"/>
          <p:cNvSpPr txBox="1"/>
          <p:nvPr/>
        </p:nvSpPr>
        <p:spPr>
          <a:xfrm>
            <a:off x="7525512" y="5742432"/>
            <a:ext cx="4069080" cy="640080"/>
          </a:xfrm>
          <a:prstGeom prst="rect">
            <a:avLst/>
          </a:prstGeom>
          <a:noFill/>
        </p:spPr>
        <p:txBody>
          <a:bodyPr wrap="square" anchor="t" lIns="0" rIns="0" tIns="0" bIns="0">
            <a:spAutoFit/>
          </a:bodyPr>
          <a:lstStyle/>
          <a:p>
            <a:pPr algn="l">
              <a:lnSpc>
                <a:spcPct val="100000"/>
              </a:lnSpc>
              <a:spcBef>
                <a:spcPts val="0"/>
              </a:spcBef>
              <a:spcAft>
                <a:spcPts val="200"/>
              </a:spcAft>
            </a:pPr>
            <a:r>
              <a:rPr sz="1600" b="1" i="0">
                <a:solidFill>
                  <a:srgbClr val="FFFFFF"/>
                </a:solidFill>
                <a:latin typeface="Calibri"/>
              </a:rPr>
              <a:t>What's Next</a:t>
            </a:r>
          </a:p>
          <a:p>
            <a:pPr algn="l">
              <a:lnSpc>
                <a:spcPct val="100000"/>
              </a:lnSpc>
              <a:spcBef>
                <a:spcPts val="0"/>
              </a:spcBef>
              <a:spcAft>
                <a:spcPts val="200"/>
              </a:spcAft>
            </a:pPr>
            <a:r>
              <a:rPr sz="1100" b="0" i="0">
                <a:solidFill>
                  <a:srgbClr val="9FB3C8"/>
                </a:solidFill>
                <a:latin typeface="Calibri"/>
              </a:rPr>
              <a:t>The road ahead</a:t>
            </a:r>
          </a:p>
        </p:txBody>
      </p:sp>
      <p:sp>
        <p:nvSpPr>
          <p:cNvPr id="45" name="TextBox 44"/>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46" name="TextBox 45"/>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ROADMAP</a:t>
            </a:r>
          </a:p>
        </p:txBody>
      </p:sp>
      <p:sp>
        <p:nvSpPr>
          <p:cNvPr id="47" name="TextBox 46"/>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01  ·  INTRODUCTION</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What is Clock-In?</a:t>
            </a:r>
          </a:p>
        </p:txBody>
      </p:sp>
      <p:sp>
        <p:nvSpPr>
          <p:cNvPr id="5" name="TextBox 4"/>
          <p:cNvSpPr txBox="1"/>
          <p:nvPr/>
        </p:nvSpPr>
        <p:spPr>
          <a:xfrm>
            <a:off x="713232" y="1783080"/>
            <a:ext cx="6492240" cy="2743200"/>
          </a:xfrm>
          <a:prstGeom prst="rect">
            <a:avLst/>
          </a:prstGeom>
          <a:noFill/>
        </p:spPr>
        <p:txBody>
          <a:bodyPr wrap="square" anchor="t" lIns="0" rIns="0" tIns="0" bIns="0">
            <a:spAutoFit/>
          </a:bodyPr>
          <a:lstStyle/>
          <a:p>
            <a:pPr algn="l">
              <a:lnSpc>
                <a:spcPct val="112000"/>
              </a:lnSpc>
              <a:spcBef>
                <a:spcPts val="0"/>
              </a:spcBef>
              <a:spcAft>
                <a:spcPts val="800"/>
              </a:spcAft>
            </a:pPr>
            <a:r>
              <a:rPr sz="1700" b="0" i="0">
                <a:solidFill>
                  <a:srgbClr val="F1F5F9"/>
                </a:solidFill>
                <a:latin typeface="Calibri"/>
              </a:rPr>
              <a:t>Clock-In is a 3D multiplayer game that lets players </a:t>
            </a:r>
            <a:r>
              <a:rPr sz="1700" b="1" i="0">
                <a:solidFill>
                  <a:srgbClr val="2DD4EE"/>
                </a:solidFill>
                <a:latin typeface="Calibri"/>
              </a:rPr>
              <a:t>try on real-world careers</a:t>
            </a:r>
            <a:r>
              <a:rPr sz="1700" b="0" i="0">
                <a:solidFill>
                  <a:srgbClr val="F1F5F9"/>
                </a:solidFill>
                <a:latin typeface="Calibri"/>
              </a:rPr>
              <a:t> — without leaving the classroom.</a:t>
            </a:r>
          </a:p>
          <a:p>
            <a:pPr algn="l">
              <a:lnSpc>
                <a:spcPct val="112000"/>
              </a:lnSpc>
              <a:spcBef>
                <a:spcPts val="0"/>
              </a:spcBef>
              <a:spcAft>
                <a:spcPts val="800"/>
              </a:spcAft>
            </a:pPr>
            <a:r>
              <a:rPr sz="800" b="0" i="0">
                <a:solidFill>
                  <a:srgbClr val="F1F5F9"/>
                </a:solidFill>
                <a:latin typeface="Calibri"/>
              </a:rPr>
              <a:t/>
            </a:r>
          </a:p>
          <a:p>
            <a:pPr algn="l">
              <a:lnSpc>
                <a:spcPct val="112000"/>
              </a:lnSpc>
              <a:spcBef>
                <a:spcPts val="0"/>
              </a:spcBef>
              <a:spcAft>
                <a:spcPts val="800"/>
              </a:spcAft>
            </a:pPr>
            <a:r>
              <a:rPr sz="1500" b="0" i="0">
                <a:solidFill>
                  <a:srgbClr val="9FB3C8"/>
                </a:solidFill>
                <a:latin typeface="Calibri"/>
              </a:rPr>
              <a:t>Each job is a hands-on mini-game built around what that career actually involves: routing data on a network, repairing a car, working a kitchen, or responding to a fire. Players jump into a shared world, take on a role, and learn by doing.</a:t>
            </a:r>
          </a:p>
          <a:p>
            <a:pPr algn="l">
              <a:lnSpc>
                <a:spcPct val="112000"/>
              </a:lnSpc>
              <a:spcBef>
                <a:spcPts val="0"/>
              </a:spcBef>
              <a:spcAft>
                <a:spcPts val="800"/>
              </a:spcAft>
            </a:pPr>
            <a:r>
              <a:rPr sz="800" b="0" i="0">
                <a:solidFill>
                  <a:srgbClr val="F1F5F9"/>
                </a:solidFill>
                <a:latin typeface="Calibri"/>
              </a:rPr>
              <a:t/>
            </a:r>
          </a:p>
          <a:p>
            <a:pPr algn="l">
              <a:lnSpc>
                <a:spcPct val="112000"/>
              </a:lnSpc>
              <a:spcBef>
                <a:spcPts val="0"/>
              </a:spcBef>
              <a:spcAft>
                <a:spcPts val="800"/>
              </a:spcAft>
            </a:pPr>
            <a:r>
              <a:rPr sz="1500" b="0" i="0">
                <a:solidFill>
                  <a:srgbClr val="9FB3C8"/>
                </a:solidFill>
                <a:latin typeface="Calibri"/>
              </a:rPr>
              <a:t>Our goal: make career exploration </a:t>
            </a:r>
            <a:r>
              <a:rPr sz="1500" b="1" i="0">
                <a:solidFill>
                  <a:srgbClr val="34D399"/>
                </a:solidFill>
                <a:latin typeface="Calibri"/>
              </a:rPr>
              <a:t>fun, social, and interactive</a:t>
            </a:r>
            <a:r>
              <a:rPr sz="1500" b="0" i="0">
                <a:solidFill>
                  <a:srgbClr val="9FB3C8"/>
                </a:solidFill>
                <a:latin typeface="Calibri"/>
              </a:rPr>
              <a:t> for students deciding what they want to be.</a:t>
            </a:r>
          </a:p>
        </p:txBody>
      </p:sp>
      <p:sp>
        <p:nvSpPr>
          <p:cNvPr id="6" name="Rectangle 5"/>
          <p:cNvSpPr/>
          <p:nvPr/>
        </p:nvSpPr>
        <p:spPr>
          <a:xfrm>
            <a:off x="7589520" y="1783080"/>
            <a:ext cx="3886200" cy="416052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9520" y="1783080"/>
            <a:ext cx="3886200" cy="8229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057400"/>
            <a:ext cx="3291840"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2DD4EE"/>
                </a:solidFill>
                <a:latin typeface="Calibri"/>
              </a:rPr>
              <a:t>4</a:t>
            </a:r>
          </a:p>
          <a:p>
            <a:pPr algn="l">
              <a:lnSpc>
                <a:spcPct val="100000"/>
              </a:lnSpc>
              <a:spcBef>
                <a:spcPts val="0"/>
              </a:spcBef>
              <a:spcAft>
                <a:spcPts val="0"/>
              </a:spcAft>
            </a:pPr>
            <a:r>
              <a:rPr sz="1200" b="1" i="0">
                <a:solidFill>
                  <a:srgbClr val="F1F5F9"/>
                </a:solidFill>
                <a:latin typeface="Calibri"/>
              </a:rPr>
              <a:t>CAREER MINI-GAMES</a:t>
            </a:r>
          </a:p>
        </p:txBody>
      </p:sp>
      <p:sp>
        <p:nvSpPr>
          <p:cNvPr id="9" name="TextBox 8"/>
          <p:cNvSpPr txBox="1"/>
          <p:nvPr/>
        </p:nvSpPr>
        <p:spPr>
          <a:xfrm>
            <a:off x="7909560" y="2990088"/>
            <a:ext cx="3291840"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38BDF8"/>
                </a:solidFill>
                <a:latin typeface="Calibri"/>
              </a:rPr>
              <a:t>∞</a:t>
            </a:r>
          </a:p>
          <a:p>
            <a:pPr algn="l">
              <a:lnSpc>
                <a:spcPct val="100000"/>
              </a:lnSpc>
              <a:spcBef>
                <a:spcPts val="0"/>
              </a:spcBef>
              <a:spcAft>
                <a:spcPts val="0"/>
              </a:spcAft>
            </a:pPr>
            <a:r>
              <a:rPr sz="1200" b="1" i="0">
                <a:solidFill>
                  <a:srgbClr val="F1F5F9"/>
                </a:solidFill>
                <a:latin typeface="Calibri"/>
              </a:rPr>
              <a:t>PLAYERS, ONLINE TOGETHER</a:t>
            </a:r>
          </a:p>
        </p:txBody>
      </p:sp>
      <p:sp>
        <p:nvSpPr>
          <p:cNvPr id="10" name="TextBox 9"/>
          <p:cNvSpPr txBox="1"/>
          <p:nvPr/>
        </p:nvSpPr>
        <p:spPr>
          <a:xfrm>
            <a:off x="7909560" y="3922776"/>
            <a:ext cx="3291840"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5C242"/>
                </a:solidFill>
                <a:latin typeface="Calibri"/>
              </a:rPr>
              <a:t>1</a:t>
            </a:r>
          </a:p>
          <a:p>
            <a:pPr algn="l">
              <a:lnSpc>
                <a:spcPct val="100000"/>
              </a:lnSpc>
              <a:spcBef>
                <a:spcPts val="0"/>
              </a:spcBef>
              <a:spcAft>
                <a:spcPts val="0"/>
              </a:spcAft>
            </a:pPr>
            <a:r>
              <a:rPr sz="1200" b="1" i="0">
                <a:solidFill>
                  <a:srgbClr val="F1F5F9"/>
                </a:solidFill>
                <a:latin typeface="Calibri"/>
              </a:rPr>
              <a:t>SHARED MULTIPLAYER WORLD</a:t>
            </a:r>
          </a:p>
        </p:txBody>
      </p:sp>
      <p:sp>
        <p:nvSpPr>
          <p:cNvPr id="11" name="TextBox 10"/>
          <p:cNvSpPr txBox="1"/>
          <p:nvPr/>
        </p:nvSpPr>
        <p:spPr>
          <a:xfrm>
            <a:off x="7909560" y="4855464"/>
            <a:ext cx="3291840"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34D399"/>
                </a:solidFill>
                <a:latin typeface="Calibri"/>
              </a:rPr>
              <a:t>100%</a:t>
            </a:r>
          </a:p>
          <a:p>
            <a:pPr algn="l">
              <a:lnSpc>
                <a:spcPct val="100000"/>
              </a:lnSpc>
              <a:spcBef>
                <a:spcPts val="0"/>
              </a:spcBef>
              <a:spcAft>
                <a:spcPts val="0"/>
              </a:spcAft>
            </a:pPr>
            <a:r>
              <a:rPr sz="1200" b="1" i="0">
                <a:solidFill>
                  <a:srgbClr val="F1F5F9"/>
                </a:solidFill>
                <a:latin typeface="Calibri"/>
              </a:rPr>
              <a:t>LEARN-BY-DOING</a:t>
            </a:r>
          </a:p>
        </p:txBody>
      </p:sp>
      <p:sp>
        <p:nvSpPr>
          <p:cNvPr id="12" name="TextBox 11"/>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13" name="TextBox 12"/>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INTRODUCTION</a:t>
            </a:r>
          </a:p>
        </p:txBody>
      </p:sp>
      <p:sp>
        <p:nvSpPr>
          <p:cNvPr id="14" name="TextBox 13"/>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02  ·  THE GAME</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Themes, Goals &amp; Concepts</a:t>
            </a:r>
          </a:p>
        </p:txBody>
      </p:sp>
      <p:sp>
        <p:nvSpPr>
          <p:cNvPr id="5" name="Rectangle 4"/>
          <p:cNvSpPr/>
          <p:nvPr/>
        </p:nvSpPr>
        <p:spPr>
          <a:xfrm>
            <a:off x="713232" y="1783080"/>
            <a:ext cx="3429000" cy="19659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783080"/>
            <a:ext cx="3429000" cy="8229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84248"/>
            <a:ext cx="3063240" cy="1600200"/>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THEMES</a:t>
            </a:r>
          </a:p>
          <a:p>
            <a:pPr algn="l">
              <a:lnSpc>
                <a:spcPct val="105000"/>
              </a:lnSpc>
              <a:spcBef>
                <a:spcPts val="0"/>
              </a:spcBef>
              <a:spcAft>
                <a:spcPts val="500"/>
              </a:spcAft>
            </a:pPr>
            <a:r>
              <a:rPr sz="1300" b="1" i="0">
                <a:solidFill>
                  <a:srgbClr val="2DD4EE"/>
                </a:solidFill>
                <a:latin typeface="Calibri"/>
              </a:rPr>
              <a:t>•  </a:t>
            </a:r>
            <a:r>
              <a:rPr sz="1300" b="0" i="0">
                <a:solidFill>
                  <a:srgbClr val="9FB3C8"/>
                </a:solidFill>
                <a:latin typeface="Calibri"/>
              </a:rPr>
              <a:t>Real careers, simulated</a:t>
            </a:r>
          </a:p>
          <a:p>
            <a:pPr algn="l">
              <a:lnSpc>
                <a:spcPct val="105000"/>
              </a:lnSpc>
              <a:spcBef>
                <a:spcPts val="0"/>
              </a:spcBef>
              <a:spcAft>
                <a:spcPts val="500"/>
              </a:spcAft>
            </a:pPr>
            <a:r>
              <a:rPr sz="1300" b="1" i="0">
                <a:solidFill>
                  <a:srgbClr val="2DD4EE"/>
                </a:solidFill>
                <a:latin typeface="Calibri"/>
              </a:rPr>
              <a:t>•  </a:t>
            </a:r>
            <a:r>
              <a:rPr sz="1300" b="0" i="0">
                <a:solidFill>
                  <a:srgbClr val="9FB3C8"/>
                </a:solidFill>
                <a:latin typeface="Calibri"/>
              </a:rPr>
              <a:t>Learning through play</a:t>
            </a:r>
          </a:p>
          <a:p>
            <a:pPr algn="l">
              <a:lnSpc>
                <a:spcPct val="105000"/>
              </a:lnSpc>
              <a:spcBef>
                <a:spcPts val="0"/>
              </a:spcBef>
              <a:spcAft>
                <a:spcPts val="500"/>
              </a:spcAft>
            </a:pPr>
            <a:r>
              <a:rPr sz="1300" b="1" i="0">
                <a:solidFill>
                  <a:srgbClr val="2DD4EE"/>
                </a:solidFill>
                <a:latin typeface="Calibri"/>
              </a:rPr>
              <a:t>•  </a:t>
            </a:r>
            <a:r>
              <a:rPr sz="1300" b="0" i="0">
                <a:solidFill>
                  <a:srgbClr val="9FB3C8"/>
                </a:solidFill>
                <a:latin typeface="Calibri"/>
              </a:rPr>
              <a:t>Cooperative &amp; competitive</a:t>
            </a:r>
          </a:p>
          <a:p>
            <a:pPr algn="l">
              <a:lnSpc>
                <a:spcPct val="105000"/>
              </a:lnSpc>
              <a:spcBef>
                <a:spcPts val="0"/>
              </a:spcBef>
              <a:spcAft>
                <a:spcPts val="500"/>
              </a:spcAft>
            </a:pPr>
            <a:r>
              <a:rPr sz="1300" b="1" i="0">
                <a:solidFill>
                  <a:srgbClr val="2DD4EE"/>
                </a:solidFill>
                <a:latin typeface="Calibri"/>
              </a:rPr>
              <a:t>•  </a:t>
            </a:r>
            <a:r>
              <a:rPr sz="1300" b="0" i="0">
                <a:solidFill>
                  <a:srgbClr val="9FB3C8"/>
                </a:solidFill>
                <a:latin typeface="Calibri"/>
              </a:rPr>
              <a:t>Accessible to any student</a:t>
            </a:r>
          </a:p>
        </p:txBody>
      </p:sp>
      <p:sp>
        <p:nvSpPr>
          <p:cNvPr id="8" name="Rectangle 7"/>
          <p:cNvSpPr/>
          <p:nvPr/>
        </p:nvSpPr>
        <p:spPr>
          <a:xfrm>
            <a:off x="4379976" y="1783080"/>
            <a:ext cx="3429000" cy="19659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9976" y="1783080"/>
            <a:ext cx="3429000" cy="82296"/>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84248"/>
            <a:ext cx="3063240" cy="1600200"/>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GOALS</a:t>
            </a:r>
          </a:p>
          <a:p>
            <a:pPr algn="l">
              <a:lnSpc>
                <a:spcPct val="105000"/>
              </a:lnSpc>
              <a:spcBef>
                <a:spcPts val="0"/>
              </a:spcBef>
              <a:spcAft>
                <a:spcPts val="500"/>
              </a:spcAft>
            </a:pPr>
            <a:r>
              <a:rPr sz="1300" b="1" i="0">
                <a:solidFill>
                  <a:srgbClr val="F5C242"/>
                </a:solidFill>
                <a:latin typeface="Calibri"/>
              </a:rPr>
              <a:t>•  </a:t>
            </a:r>
            <a:r>
              <a:rPr sz="1300" b="0" i="0">
                <a:solidFill>
                  <a:srgbClr val="9FB3C8"/>
                </a:solidFill>
                <a:latin typeface="Calibri"/>
              </a:rPr>
              <a:t>Visualize what careers look like</a:t>
            </a:r>
          </a:p>
          <a:p>
            <a:pPr algn="l">
              <a:lnSpc>
                <a:spcPct val="105000"/>
              </a:lnSpc>
              <a:spcBef>
                <a:spcPts val="0"/>
              </a:spcBef>
              <a:spcAft>
                <a:spcPts val="500"/>
              </a:spcAft>
            </a:pPr>
            <a:r>
              <a:rPr sz="1300" b="1" i="0">
                <a:solidFill>
                  <a:srgbClr val="F5C242"/>
                </a:solidFill>
                <a:latin typeface="Calibri"/>
              </a:rPr>
              <a:t>•  </a:t>
            </a:r>
            <a:r>
              <a:rPr sz="1300" b="0" i="0">
                <a:solidFill>
                  <a:srgbClr val="9FB3C8"/>
                </a:solidFill>
                <a:latin typeface="Calibri"/>
              </a:rPr>
              <a:t>Create a fun interactive experience</a:t>
            </a:r>
          </a:p>
          <a:p>
            <a:pPr algn="l">
              <a:lnSpc>
                <a:spcPct val="105000"/>
              </a:lnSpc>
              <a:spcBef>
                <a:spcPts val="0"/>
              </a:spcBef>
              <a:spcAft>
                <a:spcPts val="500"/>
              </a:spcAft>
            </a:pPr>
            <a:r>
              <a:rPr sz="1300" b="1" i="0">
                <a:solidFill>
                  <a:srgbClr val="F5C242"/>
                </a:solidFill>
                <a:latin typeface="Calibri"/>
              </a:rPr>
              <a:t>•  </a:t>
            </a:r>
            <a:r>
              <a:rPr sz="1300" b="0" i="0">
                <a:solidFill>
                  <a:srgbClr val="9FB3C8"/>
                </a:solidFill>
                <a:latin typeface="Calibri"/>
              </a:rPr>
              <a:t>Spark interest in skilled trades &amp; tech</a:t>
            </a:r>
          </a:p>
          <a:p>
            <a:pPr algn="l">
              <a:lnSpc>
                <a:spcPct val="105000"/>
              </a:lnSpc>
              <a:spcBef>
                <a:spcPts val="0"/>
              </a:spcBef>
              <a:spcAft>
                <a:spcPts val="500"/>
              </a:spcAft>
            </a:pPr>
            <a:r>
              <a:rPr sz="1300" b="1" i="0">
                <a:solidFill>
                  <a:srgbClr val="F5C242"/>
                </a:solidFill>
                <a:latin typeface="Calibri"/>
              </a:rPr>
              <a:t>•  </a:t>
            </a:r>
            <a:r>
              <a:rPr sz="1300" b="0" i="0">
                <a:solidFill>
                  <a:srgbClr val="9FB3C8"/>
                </a:solidFill>
                <a:latin typeface="Calibri"/>
              </a:rPr>
              <a:t>Make learning feel like a game</a:t>
            </a:r>
          </a:p>
        </p:txBody>
      </p:sp>
      <p:sp>
        <p:nvSpPr>
          <p:cNvPr id="11" name="Rectangle 10"/>
          <p:cNvSpPr/>
          <p:nvPr/>
        </p:nvSpPr>
        <p:spPr>
          <a:xfrm>
            <a:off x="8046720" y="1783080"/>
            <a:ext cx="3429000" cy="19659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783080"/>
            <a:ext cx="3429000" cy="8229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984248"/>
            <a:ext cx="3063240" cy="1600200"/>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KEY CONCEPTS</a:t>
            </a:r>
          </a:p>
          <a:p>
            <a:pPr algn="l">
              <a:lnSpc>
                <a:spcPct val="105000"/>
              </a:lnSpc>
              <a:spcBef>
                <a:spcPts val="0"/>
              </a:spcBef>
              <a:spcAft>
                <a:spcPts val="500"/>
              </a:spcAft>
            </a:pPr>
            <a:r>
              <a:rPr sz="1300" b="1" i="0">
                <a:solidFill>
                  <a:srgbClr val="34D399"/>
                </a:solidFill>
                <a:latin typeface="Calibri"/>
              </a:rPr>
              <a:t>•  </a:t>
            </a:r>
            <a:r>
              <a:rPr sz="1300" b="0" i="0">
                <a:solidFill>
                  <a:srgbClr val="9FB3C8"/>
                </a:solidFill>
                <a:latin typeface="Calibri"/>
              </a:rPr>
              <a:t>Short, focused job tasks</a:t>
            </a:r>
          </a:p>
          <a:p>
            <a:pPr algn="l">
              <a:lnSpc>
                <a:spcPct val="105000"/>
              </a:lnSpc>
              <a:spcBef>
                <a:spcPts val="0"/>
              </a:spcBef>
              <a:spcAft>
                <a:spcPts val="500"/>
              </a:spcAft>
            </a:pPr>
            <a:r>
              <a:rPr sz="1300" b="1" i="0">
                <a:solidFill>
                  <a:srgbClr val="34D399"/>
                </a:solidFill>
                <a:latin typeface="Calibri"/>
              </a:rPr>
              <a:t>•  </a:t>
            </a:r>
            <a:r>
              <a:rPr sz="1300" b="0" i="0">
                <a:solidFill>
                  <a:srgbClr val="9FB3C8"/>
                </a:solidFill>
                <a:latin typeface="Calibri"/>
              </a:rPr>
              <a:t>Career-quest progression</a:t>
            </a:r>
          </a:p>
          <a:p>
            <a:pPr algn="l">
              <a:lnSpc>
                <a:spcPct val="105000"/>
              </a:lnSpc>
              <a:spcBef>
                <a:spcPts val="0"/>
              </a:spcBef>
              <a:spcAft>
                <a:spcPts val="500"/>
              </a:spcAft>
            </a:pPr>
            <a:r>
              <a:rPr sz="1300" b="1" i="0">
                <a:solidFill>
                  <a:srgbClr val="34D399"/>
                </a:solidFill>
                <a:latin typeface="Calibri"/>
              </a:rPr>
              <a:t>•  </a:t>
            </a:r>
            <a:r>
              <a:rPr sz="1300" b="0" i="0">
                <a:solidFill>
                  <a:srgbClr val="9FB3C8"/>
                </a:solidFill>
                <a:latin typeface="Calibri"/>
              </a:rPr>
              <a:t>Live multiplayer scoring</a:t>
            </a:r>
          </a:p>
          <a:p>
            <a:pPr algn="l">
              <a:lnSpc>
                <a:spcPct val="105000"/>
              </a:lnSpc>
              <a:spcBef>
                <a:spcPts val="0"/>
              </a:spcBef>
              <a:spcAft>
                <a:spcPts val="500"/>
              </a:spcAft>
            </a:pPr>
            <a:r>
              <a:rPr sz="1300" b="1" i="0">
                <a:solidFill>
                  <a:srgbClr val="34D399"/>
                </a:solidFill>
                <a:latin typeface="Calibri"/>
              </a:rPr>
              <a:t>•  </a:t>
            </a:r>
            <a:r>
              <a:rPr sz="1300" b="0" i="0">
                <a:solidFill>
                  <a:srgbClr val="9FB3C8"/>
                </a:solidFill>
                <a:latin typeface="Calibri"/>
              </a:rPr>
              <a:t>Persistent cloud accounts</a:t>
            </a:r>
          </a:p>
        </p:txBody>
      </p:sp>
      <p:sp>
        <p:nvSpPr>
          <p:cNvPr id="14" name="Rectangle 13"/>
          <p:cNvSpPr/>
          <p:nvPr/>
        </p:nvSpPr>
        <p:spPr>
          <a:xfrm>
            <a:off x="713232" y="4069080"/>
            <a:ext cx="10762488" cy="15087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4069080"/>
            <a:ext cx="82296" cy="15087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60"/>
            <a:ext cx="10241280" cy="1188720"/>
          </a:xfrm>
          <a:prstGeom prst="rect">
            <a:avLst/>
          </a:prstGeom>
          <a:noFill/>
        </p:spPr>
        <p:txBody>
          <a:bodyPr wrap="square" anchor="t" lIns="0" rIns="0" tIns="0" bIns="0">
            <a:spAutoFit/>
          </a:bodyPr>
          <a:lstStyle/>
          <a:p>
            <a:pPr algn="l">
              <a:lnSpc>
                <a:spcPct val="110000"/>
              </a:lnSpc>
              <a:spcBef>
                <a:spcPts val="0"/>
              </a:spcBef>
              <a:spcAft>
                <a:spcPts val="600"/>
              </a:spcAft>
            </a:pPr>
            <a:r>
              <a:rPr sz="1400" b="1" i="0">
                <a:solidFill>
                  <a:srgbClr val="38BDF8"/>
                </a:solidFill>
                <a:latin typeface="Calibri"/>
              </a:rPr>
              <a:t>The pitch in one line</a:t>
            </a:r>
          </a:p>
          <a:p>
            <a:pPr algn="l">
              <a:lnSpc>
                <a:spcPct val="110000"/>
              </a:lnSpc>
              <a:spcBef>
                <a:spcPts val="0"/>
              </a:spcBef>
              <a:spcAft>
                <a:spcPts val="600"/>
              </a:spcAft>
            </a:pPr>
            <a:r>
              <a:rPr sz="1600" b="0" i="1">
                <a:solidFill>
                  <a:srgbClr val="F1F5F9"/>
                </a:solidFill>
                <a:latin typeface="Calibri"/>
              </a:rPr>
              <a:t>“What do you want to be when you grow up?”  Clock-In turns that question into a game — drop into a job, learn the ropes with friends, climb the leaderboard, and try the next career.</a:t>
            </a:r>
          </a:p>
        </p:txBody>
      </p:sp>
      <p:sp>
        <p:nvSpPr>
          <p:cNvPr id="17" name="TextBox 16"/>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18" name="TextBox 17"/>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THE GAME</a:t>
            </a:r>
          </a:p>
        </p:txBody>
      </p:sp>
      <p:sp>
        <p:nvSpPr>
          <p:cNvPr id="19" name="TextBox 18"/>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03  ·  THE JOBS</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Four Careers, One World</a:t>
            </a:r>
          </a:p>
        </p:txBody>
      </p:sp>
      <p:sp>
        <p:nvSpPr>
          <p:cNvPr id="5" name="Rectangle 4"/>
          <p:cNvSpPr/>
          <p:nvPr/>
        </p:nvSpPr>
        <p:spPr>
          <a:xfrm>
            <a:off x="713232" y="1783080"/>
            <a:ext cx="2615184" cy="37947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783080"/>
            <a:ext cx="2615184" cy="77724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29384"/>
            <a:ext cx="2249424" cy="548640"/>
          </a:xfrm>
          <a:prstGeom prst="rect">
            <a:avLst/>
          </a:prstGeom>
          <a:noFill/>
        </p:spPr>
        <p:txBody>
          <a:bodyPr wrap="square" anchor="ctr" lIns="0" rIns="0" tIns="0" bIns="0">
            <a:spAutoFit/>
          </a:bodyPr>
          <a:lstStyle/>
          <a:p>
            <a:pPr algn="l">
              <a:lnSpc>
                <a:spcPct val="100000"/>
              </a:lnSpc>
              <a:spcBef>
                <a:spcPts val="0"/>
              </a:spcBef>
              <a:spcAft>
                <a:spcPts val="600"/>
              </a:spcAft>
            </a:pPr>
            <a:r>
              <a:rPr sz="1400" b="1" i="0">
                <a:solidFill>
                  <a:srgbClr val="0E1A2B"/>
                </a:solidFill>
                <a:latin typeface="Calibri"/>
              </a:rPr>
              <a:t>NETWORK ENGINEER</a:t>
            </a:r>
          </a:p>
        </p:txBody>
      </p:sp>
      <p:sp>
        <p:nvSpPr>
          <p:cNvPr id="8" name="TextBox 7"/>
          <p:cNvSpPr txBox="1"/>
          <p:nvPr/>
        </p:nvSpPr>
        <p:spPr>
          <a:xfrm>
            <a:off x="914400" y="2743200"/>
            <a:ext cx="2212848" cy="1645920"/>
          </a:xfrm>
          <a:prstGeom prst="rect">
            <a:avLst/>
          </a:prstGeom>
          <a:noFill/>
        </p:spPr>
        <p:txBody>
          <a:bodyPr wrap="square" anchor="t" lIns="0" rIns="0" tIns="0" bIns="0">
            <a:spAutoFit/>
          </a:bodyPr>
          <a:lstStyle/>
          <a:p>
            <a:pPr algn="l">
              <a:lnSpc>
                <a:spcPct val="110000"/>
              </a:lnSpc>
              <a:spcBef>
                <a:spcPts val="0"/>
              </a:spcBef>
              <a:spcAft>
                <a:spcPts val="600"/>
              </a:spcAft>
            </a:pPr>
            <a:r>
              <a:rPr sz="1300" b="0" i="0">
                <a:solidFill>
                  <a:srgbClr val="F1F5F9"/>
                </a:solidFill>
                <a:latin typeface="Calibri"/>
              </a:rPr>
              <a:t>Route data packets across a shifting grid of tiles to their destination.</a:t>
            </a:r>
          </a:p>
        </p:txBody>
      </p:sp>
      <p:sp>
        <p:nvSpPr>
          <p:cNvPr id="9" name="TextBox 8"/>
          <p:cNvSpPr txBox="1"/>
          <p:nvPr/>
        </p:nvSpPr>
        <p:spPr>
          <a:xfrm>
            <a:off x="914400" y="4480560"/>
            <a:ext cx="2212848" cy="7315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2DD4EE"/>
                </a:solidFill>
                <a:latin typeface="Calibri"/>
              </a:rPr>
              <a:t>Teaches: packets, routing &amp; timing</a:t>
            </a:r>
          </a:p>
        </p:txBody>
      </p:sp>
      <p:sp>
        <p:nvSpPr>
          <p:cNvPr id="10" name="TextBox 9"/>
          <p:cNvSpPr txBox="1"/>
          <p:nvPr/>
        </p:nvSpPr>
        <p:spPr>
          <a:xfrm>
            <a:off x="914400" y="5166360"/>
            <a:ext cx="2212848" cy="320040"/>
          </a:xfrm>
          <a:prstGeom prst="rect">
            <a:avLst/>
          </a:prstGeom>
          <a:noFill/>
        </p:spPr>
        <p:txBody>
          <a:bodyPr wrap="square" anchor="t" lIns="0" rIns="0" tIns="0" bIns="0">
            <a:spAutoFit/>
          </a:bodyPr>
          <a:lstStyle/>
          <a:p>
            <a:pPr algn="l">
              <a:lnSpc>
                <a:spcPct val="100000"/>
              </a:lnSpc>
              <a:spcBef>
                <a:spcPts val="0"/>
              </a:spcBef>
              <a:spcAft>
                <a:spcPts val="600"/>
              </a:spcAft>
            </a:pPr>
            <a:r>
              <a:rPr sz="1000" b="0" i="0">
                <a:solidFill>
                  <a:srgbClr val="34D399"/>
                </a:solidFill>
                <a:latin typeface="Calibri"/>
              </a:rPr>
              <a:t>● </a:t>
            </a:r>
            <a:r>
              <a:rPr sz="1000" b="1" i="0">
                <a:solidFill>
                  <a:srgbClr val="34D399"/>
                </a:solidFill>
                <a:latin typeface="Calibri"/>
              </a:rPr>
              <a:t>FEATURED</a:t>
            </a:r>
          </a:p>
        </p:txBody>
      </p:sp>
      <p:sp>
        <p:nvSpPr>
          <p:cNvPr id="11" name="Rectangle 10"/>
          <p:cNvSpPr/>
          <p:nvPr/>
        </p:nvSpPr>
        <p:spPr>
          <a:xfrm>
            <a:off x="3493008" y="1783080"/>
            <a:ext cx="2615184" cy="37947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3008" y="1783080"/>
            <a:ext cx="2615184" cy="777240"/>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5888" y="1929384"/>
            <a:ext cx="2249424" cy="548640"/>
          </a:xfrm>
          <a:prstGeom prst="rect">
            <a:avLst/>
          </a:prstGeom>
          <a:noFill/>
        </p:spPr>
        <p:txBody>
          <a:bodyPr wrap="square" anchor="ctr" lIns="0" rIns="0" tIns="0" bIns="0">
            <a:spAutoFit/>
          </a:bodyPr>
          <a:lstStyle/>
          <a:p>
            <a:pPr algn="l">
              <a:lnSpc>
                <a:spcPct val="100000"/>
              </a:lnSpc>
              <a:spcBef>
                <a:spcPts val="0"/>
              </a:spcBef>
              <a:spcAft>
                <a:spcPts val="600"/>
              </a:spcAft>
            </a:pPr>
            <a:r>
              <a:rPr sz="1400" b="1" i="0">
                <a:solidFill>
                  <a:srgbClr val="0E1A2B"/>
                </a:solidFill>
                <a:latin typeface="Calibri"/>
              </a:rPr>
              <a:t>AUTO MECHANIC</a:t>
            </a:r>
          </a:p>
        </p:txBody>
      </p:sp>
      <p:sp>
        <p:nvSpPr>
          <p:cNvPr id="14" name="TextBox 13"/>
          <p:cNvSpPr txBox="1"/>
          <p:nvPr/>
        </p:nvSpPr>
        <p:spPr>
          <a:xfrm>
            <a:off x="3694176" y="2743200"/>
            <a:ext cx="2212848" cy="1645920"/>
          </a:xfrm>
          <a:prstGeom prst="rect">
            <a:avLst/>
          </a:prstGeom>
          <a:noFill/>
        </p:spPr>
        <p:txBody>
          <a:bodyPr wrap="square" anchor="t" lIns="0" rIns="0" tIns="0" bIns="0">
            <a:spAutoFit/>
          </a:bodyPr>
          <a:lstStyle/>
          <a:p>
            <a:pPr algn="l">
              <a:lnSpc>
                <a:spcPct val="110000"/>
              </a:lnSpc>
              <a:spcBef>
                <a:spcPts val="0"/>
              </a:spcBef>
              <a:spcAft>
                <a:spcPts val="600"/>
              </a:spcAft>
            </a:pPr>
            <a:r>
              <a:rPr sz="1300" b="0" i="0">
                <a:solidFill>
                  <a:srgbClr val="F1F5F9"/>
                </a:solidFill>
                <a:latin typeface="Calibri"/>
              </a:rPr>
              <a:t>Grab, rotate and fit the right parts to repair and rebuild a car.</a:t>
            </a:r>
          </a:p>
        </p:txBody>
      </p:sp>
      <p:sp>
        <p:nvSpPr>
          <p:cNvPr id="15" name="TextBox 14"/>
          <p:cNvSpPr txBox="1"/>
          <p:nvPr/>
        </p:nvSpPr>
        <p:spPr>
          <a:xfrm>
            <a:off x="3694176" y="4480560"/>
            <a:ext cx="2212848" cy="7315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F5C242"/>
                </a:solidFill>
                <a:latin typeface="Calibri"/>
              </a:rPr>
              <a:t>Teaches: assembly &amp; precision work</a:t>
            </a:r>
          </a:p>
        </p:txBody>
      </p:sp>
      <p:sp>
        <p:nvSpPr>
          <p:cNvPr id="16" name="Rectangle 15"/>
          <p:cNvSpPr/>
          <p:nvPr/>
        </p:nvSpPr>
        <p:spPr>
          <a:xfrm>
            <a:off x="6272784" y="1783080"/>
            <a:ext cx="2615184" cy="37947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2784" y="1783080"/>
            <a:ext cx="2615184" cy="7772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1929384"/>
            <a:ext cx="2249424" cy="548640"/>
          </a:xfrm>
          <a:prstGeom prst="rect">
            <a:avLst/>
          </a:prstGeom>
          <a:noFill/>
        </p:spPr>
        <p:txBody>
          <a:bodyPr wrap="square" anchor="ctr" lIns="0" rIns="0" tIns="0" bIns="0">
            <a:spAutoFit/>
          </a:bodyPr>
          <a:lstStyle/>
          <a:p>
            <a:pPr algn="l">
              <a:lnSpc>
                <a:spcPct val="100000"/>
              </a:lnSpc>
              <a:spcBef>
                <a:spcPts val="0"/>
              </a:spcBef>
              <a:spcAft>
                <a:spcPts val="600"/>
              </a:spcAft>
            </a:pPr>
            <a:r>
              <a:rPr sz="1400" b="1" i="0">
                <a:solidFill>
                  <a:srgbClr val="0E1A2B"/>
                </a:solidFill>
                <a:latin typeface="Calibri"/>
              </a:rPr>
              <a:t>CHEF</a:t>
            </a:r>
          </a:p>
        </p:txBody>
      </p:sp>
      <p:sp>
        <p:nvSpPr>
          <p:cNvPr id="19" name="TextBox 18"/>
          <p:cNvSpPr txBox="1"/>
          <p:nvPr/>
        </p:nvSpPr>
        <p:spPr>
          <a:xfrm>
            <a:off x="6473952" y="2743200"/>
            <a:ext cx="2212848" cy="1645920"/>
          </a:xfrm>
          <a:prstGeom prst="rect">
            <a:avLst/>
          </a:prstGeom>
          <a:noFill/>
        </p:spPr>
        <p:txBody>
          <a:bodyPr wrap="square" anchor="t" lIns="0" rIns="0" tIns="0" bIns="0">
            <a:spAutoFit/>
          </a:bodyPr>
          <a:lstStyle/>
          <a:p>
            <a:pPr algn="l">
              <a:lnSpc>
                <a:spcPct val="110000"/>
              </a:lnSpc>
              <a:spcBef>
                <a:spcPts val="0"/>
              </a:spcBef>
              <a:spcAft>
                <a:spcPts val="600"/>
              </a:spcAft>
            </a:pPr>
            <a:r>
              <a:rPr sz="1300" b="0" i="0">
                <a:solidFill>
                  <a:srgbClr val="F1F5F9"/>
                </a:solidFill>
                <a:latin typeface="Calibri"/>
              </a:rPr>
              <a:t>Work the kitchen line, handling ingredients under pressure.</a:t>
            </a:r>
          </a:p>
        </p:txBody>
      </p:sp>
      <p:sp>
        <p:nvSpPr>
          <p:cNvPr id="20" name="TextBox 19"/>
          <p:cNvSpPr txBox="1"/>
          <p:nvPr/>
        </p:nvSpPr>
        <p:spPr>
          <a:xfrm>
            <a:off x="6473952" y="4480560"/>
            <a:ext cx="2212848" cy="7315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34D399"/>
                </a:solidFill>
                <a:latin typeface="Calibri"/>
              </a:rPr>
              <a:t>Teaches: food-service workflow</a:t>
            </a:r>
          </a:p>
        </p:txBody>
      </p:sp>
      <p:sp>
        <p:nvSpPr>
          <p:cNvPr id="21" name="TextBox 20"/>
          <p:cNvSpPr txBox="1"/>
          <p:nvPr/>
        </p:nvSpPr>
        <p:spPr>
          <a:xfrm>
            <a:off x="6473952" y="5166360"/>
            <a:ext cx="2212848" cy="320040"/>
          </a:xfrm>
          <a:prstGeom prst="rect">
            <a:avLst/>
          </a:prstGeom>
          <a:noFill/>
        </p:spPr>
        <p:txBody>
          <a:bodyPr wrap="square" anchor="t" lIns="0" rIns="0" tIns="0" bIns="0">
            <a:spAutoFit/>
          </a:bodyPr>
          <a:lstStyle/>
          <a:p>
            <a:pPr algn="l">
              <a:lnSpc>
                <a:spcPct val="100000"/>
              </a:lnSpc>
              <a:spcBef>
                <a:spcPts val="0"/>
              </a:spcBef>
              <a:spcAft>
                <a:spcPts val="600"/>
              </a:spcAft>
            </a:pPr>
            <a:r>
              <a:rPr sz="1000" b="0" i="0">
                <a:solidFill>
                  <a:srgbClr val="9FB3C8"/>
                </a:solidFill>
                <a:latin typeface="Calibri"/>
              </a:rPr>
              <a:t>● </a:t>
            </a:r>
            <a:r>
              <a:rPr sz="1000" b="1" i="0">
                <a:solidFill>
                  <a:srgbClr val="9FB3C8"/>
                </a:solidFill>
                <a:latin typeface="Calibri"/>
              </a:rPr>
              <a:t>IN PROGRESS</a:t>
            </a:r>
          </a:p>
        </p:txBody>
      </p:sp>
      <p:sp>
        <p:nvSpPr>
          <p:cNvPr id="22" name="Rectangle 21"/>
          <p:cNvSpPr/>
          <p:nvPr/>
        </p:nvSpPr>
        <p:spPr>
          <a:xfrm>
            <a:off x="9052560" y="1783080"/>
            <a:ext cx="2615184" cy="37947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60" y="1783080"/>
            <a:ext cx="2615184" cy="777240"/>
          </a:xfrm>
          <a:prstGeom prst="rect">
            <a:avLst/>
          </a:prstGeom>
          <a:solidFill>
            <a:srgbClr val="EF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929384"/>
            <a:ext cx="2249424" cy="548640"/>
          </a:xfrm>
          <a:prstGeom prst="rect">
            <a:avLst/>
          </a:prstGeom>
          <a:noFill/>
        </p:spPr>
        <p:txBody>
          <a:bodyPr wrap="square" anchor="ctr" lIns="0" rIns="0" tIns="0" bIns="0">
            <a:spAutoFit/>
          </a:bodyPr>
          <a:lstStyle/>
          <a:p>
            <a:pPr algn="l">
              <a:lnSpc>
                <a:spcPct val="100000"/>
              </a:lnSpc>
              <a:spcBef>
                <a:spcPts val="0"/>
              </a:spcBef>
              <a:spcAft>
                <a:spcPts val="600"/>
              </a:spcAft>
            </a:pPr>
            <a:r>
              <a:rPr sz="1400" b="1" i="0">
                <a:solidFill>
                  <a:srgbClr val="0E1A2B"/>
                </a:solidFill>
                <a:latin typeface="Calibri"/>
              </a:rPr>
              <a:t>FIREFIGHTER</a:t>
            </a:r>
          </a:p>
        </p:txBody>
      </p:sp>
      <p:sp>
        <p:nvSpPr>
          <p:cNvPr id="25" name="TextBox 24"/>
          <p:cNvSpPr txBox="1"/>
          <p:nvPr/>
        </p:nvSpPr>
        <p:spPr>
          <a:xfrm>
            <a:off x="9253728" y="2743200"/>
            <a:ext cx="2212848" cy="1645920"/>
          </a:xfrm>
          <a:prstGeom prst="rect">
            <a:avLst/>
          </a:prstGeom>
          <a:noFill/>
        </p:spPr>
        <p:txBody>
          <a:bodyPr wrap="square" anchor="t" lIns="0" rIns="0" tIns="0" bIns="0">
            <a:spAutoFit/>
          </a:bodyPr>
          <a:lstStyle/>
          <a:p>
            <a:pPr algn="l">
              <a:lnSpc>
                <a:spcPct val="110000"/>
              </a:lnSpc>
              <a:spcBef>
                <a:spcPts val="0"/>
              </a:spcBef>
              <a:spcAft>
                <a:spcPts val="600"/>
              </a:spcAft>
            </a:pPr>
            <a:r>
              <a:rPr sz="1300" b="0" i="0">
                <a:solidFill>
                  <a:srgbClr val="F1F5F9"/>
                </a:solidFill>
                <a:latin typeface="Calibri"/>
              </a:rPr>
              <a:t>Operate gear and respond to emergencies to save lives.</a:t>
            </a:r>
          </a:p>
        </p:txBody>
      </p:sp>
      <p:sp>
        <p:nvSpPr>
          <p:cNvPr id="26" name="TextBox 25"/>
          <p:cNvSpPr txBox="1"/>
          <p:nvPr/>
        </p:nvSpPr>
        <p:spPr>
          <a:xfrm>
            <a:off x="9253728" y="4480560"/>
            <a:ext cx="2212848" cy="73152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EF6F6F"/>
                </a:solidFill>
                <a:latin typeface="Calibri"/>
              </a:rPr>
              <a:t>Teaches: emergency response</a:t>
            </a:r>
          </a:p>
        </p:txBody>
      </p:sp>
      <p:sp>
        <p:nvSpPr>
          <p:cNvPr id="27" name="TextBox 26"/>
          <p:cNvSpPr txBox="1"/>
          <p:nvPr/>
        </p:nvSpPr>
        <p:spPr>
          <a:xfrm>
            <a:off x="9253728" y="5166360"/>
            <a:ext cx="2212848" cy="320040"/>
          </a:xfrm>
          <a:prstGeom prst="rect">
            <a:avLst/>
          </a:prstGeom>
          <a:noFill/>
        </p:spPr>
        <p:txBody>
          <a:bodyPr wrap="square" anchor="t" lIns="0" rIns="0" tIns="0" bIns="0">
            <a:spAutoFit/>
          </a:bodyPr>
          <a:lstStyle/>
          <a:p>
            <a:pPr algn="l">
              <a:lnSpc>
                <a:spcPct val="100000"/>
              </a:lnSpc>
              <a:spcBef>
                <a:spcPts val="0"/>
              </a:spcBef>
              <a:spcAft>
                <a:spcPts val="600"/>
              </a:spcAft>
            </a:pPr>
            <a:r>
              <a:rPr sz="1000" b="0" i="0">
                <a:solidFill>
                  <a:srgbClr val="9FB3C8"/>
                </a:solidFill>
                <a:latin typeface="Calibri"/>
              </a:rPr>
              <a:t>● </a:t>
            </a:r>
            <a:r>
              <a:rPr sz="1000" b="1" i="0">
                <a:solidFill>
                  <a:srgbClr val="9FB3C8"/>
                </a:solidFill>
                <a:latin typeface="Calibri"/>
              </a:rPr>
              <a:t>IN PROGRESS</a:t>
            </a:r>
          </a:p>
        </p:txBody>
      </p:sp>
      <p:sp>
        <p:nvSpPr>
          <p:cNvPr id="28" name="TextBox 27"/>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29" name="TextBox 28"/>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THE JOBS</a:t>
            </a:r>
          </a:p>
        </p:txBody>
      </p:sp>
      <p:sp>
        <p:nvSpPr>
          <p:cNvPr id="30" name="TextBox 29"/>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04  ·  GAMEPLAY SPOTLIGHT</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Inside the Networking Mini-Game</a:t>
            </a:r>
          </a:p>
        </p:txBody>
      </p:sp>
      <p:sp>
        <p:nvSpPr>
          <p:cNvPr id="5" name="TextBox 4"/>
          <p:cNvSpPr txBox="1"/>
          <p:nvPr/>
        </p:nvSpPr>
        <p:spPr>
          <a:xfrm>
            <a:off x="713232" y="1691640"/>
            <a:ext cx="6400800" cy="457200"/>
          </a:xfrm>
          <a:prstGeom prst="rect">
            <a:avLst/>
          </a:prstGeom>
          <a:noFill/>
        </p:spPr>
        <p:txBody>
          <a:bodyPr wrap="square" anchor="t" lIns="0" rIns="0" tIns="0" bIns="0">
            <a:spAutoFit/>
          </a:bodyPr>
          <a:lstStyle/>
          <a:p>
            <a:pPr algn="l">
              <a:lnSpc>
                <a:spcPct val="105000"/>
              </a:lnSpc>
              <a:spcBef>
                <a:spcPts val="0"/>
              </a:spcBef>
              <a:spcAft>
                <a:spcPts val="600"/>
              </a:spcAft>
            </a:pPr>
            <a:r>
              <a:rPr sz="1400" b="0" i="1">
                <a:solidFill>
                  <a:srgbClr val="9FB3C8"/>
                </a:solidFill>
                <a:latin typeface="Calibri"/>
              </a:rPr>
              <a:t>Our deepest job — it turns abstract networking ideas into something you can run across.</a:t>
            </a:r>
          </a:p>
        </p:txBody>
      </p:sp>
      <p:sp>
        <p:nvSpPr>
          <p:cNvPr id="6" name="Rectangle 5"/>
          <p:cNvSpPr/>
          <p:nvPr/>
        </p:nvSpPr>
        <p:spPr>
          <a:xfrm>
            <a:off x="713232" y="2240280"/>
            <a:ext cx="6446520" cy="786384"/>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240280"/>
            <a:ext cx="640080" cy="786384"/>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240280"/>
            <a:ext cx="640080" cy="786384"/>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E1A2B"/>
                </a:solidFill>
                <a:latin typeface="Calibri"/>
              </a:rPr>
              <a:t>1</a:t>
            </a:r>
          </a:p>
        </p:txBody>
      </p:sp>
      <p:sp>
        <p:nvSpPr>
          <p:cNvPr id="9" name="TextBox 8"/>
          <p:cNvSpPr txBox="1"/>
          <p:nvPr/>
        </p:nvSpPr>
        <p:spPr>
          <a:xfrm>
            <a:off x="1508760" y="2350008"/>
            <a:ext cx="548640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FFFFF"/>
                </a:solidFill>
                <a:latin typeface="Calibri"/>
              </a:rPr>
              <a:t>PICK UP THE PACKET</a:t>
            </a:r>
          </a:p>
          <a:p>
            <a:pPr algn="l">
              <a:lnSpc>
                <a:spcPct val="100000"/>
              </a:lnSpc>
              <a:spcBef>
                <a:spcPts val="0"/>
              </a:spcBef>
              <a:spcAft>
                <a:spcPts val="100"/>
              </a:spcAft>
            </a:pPr>
            <a:r>
              <a:rPr sz="1100" b="0" i="0">
                <a:solidFill>
                  <a:srgbClr val="9FB3C8"/>
                </a:solidFill>
                <a:latin typeface="Calibri"/>
              </a:rPr>
              <a:t>Cyan-glowing packets appear in the level — grab one to carry it.</a:t>
            </a:r>
          </a:p>
        </p:txBody>
      </p:sp>
      <p:sp>
        <p:nvSpPr>
          <p:cNvPr id="10" name="Rectangle 9"/>
          <p:cNvSpPr/>
          <p:nvPr/>
        </p:nvSpPr>
        <p:spPr>
          <a:xfrm>
            <a:off x="713232" y="3127248"/>
            <a:ext cx="6446520" cy="786384"/>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3127248"/>
            <a:ext cx="640080" cy="786384"/>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127248"/>
            <a:ext cx="640080" cy="786384"/>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E1A2B"/>
                </a:solidFill>
                <a:latin typeface="Calibri"/>
              </a:rPr>
              <a:t>2</a:t>
            </a:r>
          </a:p>
        </p:txBody>
      </p:sp>
      <p:sp>
        <p:nvSpPr>
          <p:cNvPr id="13" name="TextBox 12"/>
          <p:cNvSpPr txBox="1"/>
          <p:nvPr/>
        </p:nvSpPr>
        <p:spPr>
          <a:xfrm>
            <a:off x="1508760" y="3236976"/>
            <a:ext cx="548640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FFFFF"/>
                </a:solidFill>
                <a:latin typeface="Calibri"/>
              </a:rPr>
              <a:t>CROSS THE LIVE GRID</a:t>
            </a:r>
          </a:p>
          <a:p>
            <a:pPr algn="l">
              <a:lnSpc>
                <a:spcPct val="100000"/>
              </a:lnSpc>
              <a:spcBef>
                <a:spcPts val="0"/>
              </a:spcBef>
              <a:spcAft>
                <a:spcPts val="100"/>
              </a:spcAft>
            </a:pPr>
            <a:r>
              <a:rPr sz="1100" b="0" i="0">
                <a:solidFill>
                  <a:srgbClr val="9FB3C8"/>
                </a:solidFill>
                <a:latin typeface="Calibri"/>
              </a:rPr>
              <a:t>The floor is made of tiles that fade in and out on 3–10s cycles. Time your route.</a:t>
            </a:r>
          </a:p>
        </p:txBody>
      </p:sp>
      <p:sp>
        <p:nvSpPr>
          <p:cNvPr id="14" name="Rectangle 13"/>
          <p:cNvSpPr/>
          <p:nvPr/>
        </p:nvSpPr>
        <p:spPr>
          <a:xfrm>
            <a:off x="713232" y="4014216"/>
            <a:ext cx="6446520" cy="786384"/>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4014216"/>
            <a:ext cx="640080" cy="786384"/>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014216"/>
            <a:ext cx="640080" cy="786384"/>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E1A2B"/>
                </a:solidFill>
                <a:latin typeface="Calibri"/>
              </a:rPr>
              <a:t>3</a:t>
            </a:r>
          </a:p>
        </p:txBody>
      </p:sp>
      <p:sp>
        <p:nvSpPr>
          <p:cNvPr id="17" name="TextBox 16"/>
          <p:cNvSpPr txBox="1"/>
          <p:nvPr/>
        </p:nvSpPr>
        <p:spPr>
          <a:xfrm>
            <a:off x="1508760" y="4123944"/>
            <a:ext cx="548640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FFFFF"/>
                </a:solidFill>
                <a:latin typeface="Calibri"/>
              </a:rPr>
              <a:t>DELIVER TO THE GOAL</a:t>
            </a:r>
          </a:p>
          <a:p>
            <a:pPr algn="l">
              <a:lnSpc>
                <a:spcPct val="100000"/>
              </a:lnSpc>
              <a:spcBef>
                <a:spcPts val="0"/>
              </a:spcBef>
              <a:spcAft>
                <a:spcPts val="100"/>
              </a:spcAft>
            </a:pPr>
            <a:r>
              <a:rPr sz="1100" b="0" i="0">
                <a:solidFill>
                  <a:srgbClr val="9FB3C8"/>
                </a:solidFill>
                <a:latin typeface="Calibri"/>
              </a:rPr>
              <a:t>Reach the goal zone — the packet turns green and you score points.</a:t>
            </a:r>
          </a:p>
        </p:txBody>
      </p:sp>
      <p:sp>
        <p:nvSpPr>
          <p:cNvPr id="18" name="Rectangle 17"/>
          <p:cNvSpPr/>
          <p:nvPr/>
        </p:nvSpPr>
        <p:spPr>
          <a:xfrm>
            <a:off x="713232" y="4901184"/>
            <a:ext cx="6446520" cy="786384"/>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901184"/>
            <a:ext cx="640080" cy="786384"/>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901184"/>
            <a:ext cx="640080" cy="786384"/>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E1A2B"/>
                </a:solidFill>
                <a:latin typeface="Calibri"/>
              </a:rPr>
              <a:t>4</a:t>
            </a:r>
          </a:p>
        </p:txBody>
      </p:sp>
      <p:sp>
        <p:nvSpPr>
          <p:cNvPr id="21" name="TextBox 20"/>
          <p:cNvSpPr txBox="1"/>
          <p:nvPr/>
        </p:nvSpPr>
        <p:spPr>
          <a:xfrm>
            <a:off x="1508760" y="5010912"/>
            <a:ext cx="5486400" cy="64008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FFFFF"/>
                </a:solidFill>
                <a:latin typeface="Calibri"/>
              </a:rPr>
              <a:t>SYNCED FOR EVERYONE</a:t>
            </a:r>
          </a:p>
          <a:p>
            <a:pPr algn="l">
              <a:lnSpc>
                <a:spcPct val="100000"/>
              </a:lnSpc>
              <a:spcBef>
                <a:spcPts val="0"/>
              </a:spcBef>
              <a:spcAft>
                <a:spcPts val="100"/>
              </a:spcAft>
            </a:pPr>
            <a:r>
              <a:rPr sz="1100" b="0" i="0">
                <a:solidFill>
                  <a:srgbClr val="9FB3C8"/>
                </a:solidFill>
                <a:latin typeface="Calibri"/>
              </a:rPr>
              <a:t>Packet state syncs over Photon, so every player sees the same delivery live.</a:t>
            </a:r>
          </a:p>
        </p:txBody>
      </p:sp>
      <p:sp>
        <p:nvSpPr>
          <p:cNvPr id="22" name="Rectangle 21"/>
          <p:cNvSpPr/>
          <p:nvPr/>
        </p:nvSpPr>
        <p:spPr>
          <a:xfrm>
            <a:off x="7452360" y="2240280"/>
            <a:ext cx="4023360" cy="3456432"/>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52360" y="2240280"/>
            <a:ext cx="4023360" cy="8229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80" y="2423160"/>
            <a:ext cx="3566160" cy="3200400"/>
          </a:xfrm>
          <a:prstGeom prst="rect">
            <a:avLst/>
          </a:prstGeom>
          <a:noFill/>
        </p:spPr>
        <p:txBody>
          <a:bodyPr wrap="square" anchor="t" lIns="0" rIns="0" tIns="0" bIns="0">
            <a:spAutoFit/>
          </a:bodyPr>
          <a:lstStyle/>
          <a:p>
            <a:pPr algn="l">
              <a:lnSpc>
                <a:spcPct val="110000"/>
              </a:lnSpc>
              <a:spcBef>
                <a:spcPts val="0"/>
              </a:spcBef>
              <a:spcAft>
                <a:spcPts val="800"/>
              </a:spcAft>
            </a:pPr>
            <a:r>
              <a:rPr sz="1300" b="1" i="0">
                <a:solidFill>
                  <a:srgbClr val="34D399"/>
                </a:solidFill>
                <a:latin typeface="Calibri"/>
              </a:rPr>
              <a:t>WHAT IT TEACHES</a:t>
            </a:r>
          </a:p>
          <a:p>
            <a:pPr algn="l">
              <a:lnSpc>
                <a:spcPct val="110000"/>
              </a:lnSpc>
              <a:spcBef>
                <a:spcPts val="0"/>
              </a:spcBef>
              <a:spcAft>
                <a:spcPts val="800"/>
              </a:spcAft>
            </a:pPr>
            <a:r>
              <a:rPr sz="1400" b="1" i="0">
                <a:solidFill>
                  <a:srgbClr val="2DD4EE"/>
                </a:solidFill>
                <a:latin typeface="Calibri"/>
              </a:rPr>
              <a:t>• Packets</a:t>
            </a:r>
            <a:r>
              <a:rPr sz="1300" b="0" i="0">
                <a:solidFill>
                  <a:srgbClr val="9FB3C8"/>
                </a:solidFill>
                <a:latin typeface="Calibri"/>
              </a:rPr>
              <a:t> — data travels in pieces</a:t>
            </a:r>
          </a:p>
          <a:p>
            <a:pPr algn="l">
              <a:lnSpc>
                <a:spcPct val="110000"/>
              </a:lnSpc>
              <a:spcBef>
                <a:spcPts val="0"/>
              </a:spcBef>
              <a:spcAft>
                <a:spcPts val="800"/>
              </a:spcAft>
            </a:pPr>
            <a:r>
              <a:rPr sz="1400" b="1" i="0">
                <a:solidFill>
                  <a:srgbClr val="2DD4EE"/>
                </a:solidFill>
                <a:latin typeface="Calibri"/>
              </a:rPr>
              <a:t>• Routing</a:t>
            </a:r>
            <a:r>
              <a:rPr sz="1300" b="0" i="0">
                <a:solidFill>
                  <a:srgbClr val="9FB3C8"/>
                </a:solidFill>
                <a:latin typeface="Calibri"/>
              </a:rPr>
              <a:t> — finding a path to the destination</a:t>
            </a:r>
          </a:p>
          <a:p>
            <a:pPr algn="l">
              <a:lnSpc>
                <a:spcPct val="110000"/>
              </a:lnSpc>
              <a:spcBef>
                <a:spcPts val="0"/>
              </a:spcBef>
              <a:spcAft>
                <a:spcPts val="800"/>
              </a:spcAft>
            </a:pPr>
            <a:r>
              <a:rPr sz="1400" b="1" i="0">
                <a:solidFill>
                  <a:srgbClr val="2DD4EE"/>
                </a:solidFill>
                <a:latin typeface="Calibri"/>
              </a:rPr>
              <a:t>• Timing &amp; latency</a:t>
            </a:r>
            <a:r>
              <a:rPr sz="1300" b="0" i="0">
                <a:solidFill>
                  <a:srgbClr val="9FB3C8"/>
                </a:solidFill>
                <a:latin typeface="Calibri"/>
              </a:rPr>
              <a:t> — networks change moment to moment</a:t>
            </a:r>
          </a:p>
          <a:p>
            <a:pPr algn="l">
              <a:lnSpc>
                <a:spcPct val="110000"/>
              </a:lnSpc>
              <a:spcBef>
                <a:spcPts val="0"/>
              </a:spcBef>
              <a:spcAft>
                <a:spcPts val="800"/>
              </a:spcAft>
            </a:pPr>
            <a:r>
              <a:rPr sz="1400" b="1" i="0">
                <a:solidFill>
                  <a:srgbClr val="2DD4EE"/>
                </a:solidFill>
                <a:latin typeface="Calibri"/>
              </a:rPr>
              <a:t>• Synchronization</a:t>
            </a:r>
            <a:r>
              <a:rPr sz="1300" b="0" i="0">
                <a:solidFill>
                  <a:srgbClr val="9FB3C8"/>
                </a:solidFill>
                <a:latin typeface="Calibri"/>
              </a:rPr>
              <a:t> — keeping every node in agreement</a:t>
            </a:r>
          </a:p>
          <a:p>
            <a:pPr algn="l">
              <a:lnSpc>
                <a:spcPct val="110000"/>
              </a:lnSpc>
              <a:spcBef>
                <a:spcPts val="0"/>
              </a:spcBef>
              <a:spcAft>
                <a:spcPts val="800"/>
              </a:spcAft>
            </a:pPr>
            <a:r>
              <a:rPr sz="800" b="0" i="0">
                <a:solidFill>
                  <a:srgbClr val="F1F5F9"/>
                </a:solidFill>
                <a:latin typeface="Calibri"/>
              </a:rPr>
              <a:t/>
            </a:r>
          </a:p>
          <a:p>
            <a:pPr algn="l">
              <a:lnSpc>
                <a:spcPct val="110000"/>
              </a:lnSpc>
              <a:spcBef>
                <a:spcPts val="0"/>
              </a:spcBef>
              <a:spcAft>
                <a:spcPts val="800"/>
              </a:spcAft>
            </a:pPr>
            <a:r>
              <a:rPr sz="1100" b="1" i="0">
                <a:solidFill>
                  <a:srgbClr val="F1F5F9"/>
                </a:solidFill>
                <a:latin typeface="Calibri"/>
              </a:rPr>
              <a:t>Built from real scripts:</a:t>
            </a:r>
          </a:p>
          <a:p>
            <a:pPr algn="l">
              <a:lnSpc>
                <a:spcPct val="110000"/>
              </a:lnSpc>
              <a:spcBef>
                <a:spcPts val="0"/>
              </a:spcBef>
              <a:spcAft>
                <a:spcPts val="800"/>
              </a:spcAft>
            </a:pPr>
            <a:r>
              <a:rPr sz="1100" b="0" i="1">
                <a:solidFill>
                  <a:srgbClr val="9FB3C8"/>
                </a:solidFill>
                <a:latin typeface="Calibri"/>
              </a:rPr>
              <a:t>Packet · PacketGoal · Tiles · ScoreManager</a:t>
            </a:r>
          </a:p>
        </p:txBody>
      </p:sp>
      <p:sp>
        <p:nvSpPr>
          <p:cNvPr id="25" name="TextBox 24"/>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26" name="TextBox 25"/>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GAMEPLAY SPOTLIGHT</a:t>
            </a:r>
          </a:p>
        </p:txBody>
      </p:sp>
      <p:sp>
        <p:nvSpPr>
          <p:cNvPr id="27" name="TextBox 26"/>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05  ·  MULTIPLAYER</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Playing Together with Photon PUN 2</a:t>
            </a:r>
          </a:p>
        </p:txBody>
      </p:sp>
      <p:sp>
        <p:nvSpPr>
          <p:cNvPr id="5" name="TextBox 4"/>
          <p:cNvSpPr txBox="1"/>
          <p:nvPr/>
        </p:nvSpPr>
        <p:spPr>
          <a:xfrm>
            <a:off x="713232" y="1691640"/>
            <a:ext cx="10607040" cy="548640"/>
          </a:xfrm>
          <a:prstGeom prst="rect">
            <a:avLst/>
          </a:prstGeom>
          <a:noFill/>
        </p:spPr>
        <p:txBody>
          <a:bodyPr wrap="square" anchor="t" lIns="0" rIns="0" tIns="0" bIns="0">
            <a:spAutoFit/>
          </a:bodyPr>
          <a:lstStyle/>
          <a:p>
            <a:pPr algn="l">
              <a:lnSpc>
                <a:spcPct val="110000"/>
              </a:lnSpc>
              <a:spcBef>
                <a:spcPts val="0"/>
              </a:spcBef>
              <a:spcAft>
                <a:spcPts val="600"/>
              </a:spcAft>
            </a:pPr>
            <a:r>
              <a:rPr sz="1500" b="0" i="0">
                <a:solidFill>
                  <a:srgbClr val="F1F5F9"/>
                </a:solidFill>
                <a:latin typeface="Calibri"/>
              </a:rPr>
              <a:t>Clock-In is multiplayer to its core. Players connect to a shared lobby, join a room, and drop into the same job together — in real time.</a:t>
            </a:r>
          </a:p>
        </p:txBody>
      </p:sp>
      <p:sp>
        <p:nvSpPr>
          <p:cNvPr id="6" name="Rectangle 5"/>
          <p:cNvSpPr/>
          <p:nvPr/>
        </p:nvSpPr>
        <p:spPr>
          <a:xfrm>
            <a:off x="713232" y="2697480"/>
            <a:ext cx="1993392" cy="17373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697480"/>
            <a:ext cx="1993392" cy="8229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898648"/>
            <a:ext cx="1664208" cy="45720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2DD4EE"/>
                </a:solidFill>
                <a:latin typeface="Calibri"/>
              </a:rPr>
              <a:t>CONNECT</a:t>
            </a:r>
          </a:p>
        </p:txBody>
      </p:sp>
      <p:sp>
        <p:nvSpPr>
          <p:cNvPr id="9" name="TextBox 8"/>
          <p:cNvSpPr txBox="1"/>
          <p:nvPr/>
        </p:nvSpPr>
        <p:spPr>
          <a:xfrm>
            <a:off x="877824" y="3355848"/>
            <a:ext cx="1664208" cy="1005840"/>
          </a:xfrm>
          <a:prstGeom prst="rect">
            <a:avLst/>
          </a:prstGeom>
          <a:noFill/>
        </p:spPr>
        <p:txBody>
          <a:bodyPr wrap="square" anchor="t" lIns="0" rIns="0" tIns="0" bIns="0">
            <a:spAutoFit/>
          </a:bodyPr>
          <a:lstStyle/>
          <a:p>
            <a:pPr algn="l">
              <a:lnSpc>
                <a:spcPct val="105000"/>
              </a:lnSpc>
              <a:spcBef>
                <a:spcPts val="0"/>
              </a:spcBef>
              <a:spcAft>
                <a:spcPts val="600"/>
              </a:spcAft>
            </a:pPr>
            <a:r>
              <a:rPr sz="1200" b="0" i="0">
                <a:solidFill>
                  <a:srgbClr val="9FB3C8"/>
                </a:solidFill>
                <a:latin typeface="Calibri"/>
              </a:rPr>
              <a:t>Players join the Photon master server and lobby</a:t>
            </a:r>
          </a:p>
        </p:txBody>
      </p:sp>
      <p:sp>
        <p:nvSpPr>
          <p:cNvPr id="10" name="TextBox 9"/>
          <p:cNvSpPr txBox="1"/>
          <p:nvPr/>
        </p:nvSpPr>
        <p:spPr>
          <a:xfrm>
            <a:off x="2688336" y="2697480"/>
            <a:ext cx="237744" cy="1737360"/>
          </a:xfrm>
          <a:prstGeom prst="rect">
            <a:avLst/>
          </a:prstGeom>
          <a:noFill/>
        </p:spPr>
        <p:txBody>
          <a:bodyPr wrap="square" anchor="ctr" lIns="0" rIns="0" tIns="0" bIns="0">
            <a:spAutoFit/>
          </a:bodyPr>
          <a:lstStyle/>
          <a:p>
            <a:pPr algn="ctr">
              <a:lnSpc>
                <a:spcPct val="100000"/>
              </a:lnSpc>
              <a:spcBef>
                <a:spcPts val="0"/>
              </a:spcBef>
              <a:spcAft>
                <a:spcPts val="600"/>
              </a:spcAft>
            </a:pPr>
            <a:r>
              <a:rPr sz="2200" b="1" i="0">
                <a:solidFill>
                  <a:srgbClr val="2DD4EE"/>
                </a:solidFill>
                <a:latin typeface="Calibri"/>
              </a:rPr>
              <a:t>›</a:t>
            </a:r>
          </a:p>
        </p:txBody>
      </p:sp>
      <p:sp>
        <p:nvSpPr>
          <p:cNvPr id="11" name="Rectangle 10"/>
          <p:cNvSpPr/>
          <p:nvPr/>
        </p:nvSpPr>
        <p:spPr>
          <a:xfrm>
            <a:off x="2852928" y="2697480"/>
            <a:ext cx="1993392" cy="17373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52928" y="2697480"/>
            <a:ext cx="1993392"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17520" y="2898648"/>
            <a:ext cx="1664208" cy="45720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38BDF8"/>
                </a:solidFill>
                <a:latin typeface="Calibri"/>
              </a:rPr>
              <a:t>ROOM</a:t>
            </a:r>
          </a:p>
        </p:txBody>
      </p:sp>
      <p:sp>
        <p:nvSpPr>
          <p:cNvPr id="14" name="TextBox 13"/>
          <p:cNvSpPr txBox="1"/>
          <p:nvPr/>
        </p:nvSpPr>
        <p:spPr>
          <a:xfrm>
            <a:off x="3017520" y="3355848"/>
            <a:ext cx="1664208" cy="1005840"/>
          </a:xfrm>
          <a:prstGeom prst="rect">
            <a:avLst/>
          </a:prstGeom>
          <a:noFill/>
        </p:spPr>
        <p:txBody>
          <a:bodyPr wrap="square" anchor="t" lIns="0" rIns="0" tIns="0" bIns="0">
            <a:spAutoFit/>
          </a:bodyPr>
          <a:lstStyle/>
          <a:p>
            <a:pPr algn="l">
              <a:lnSpc>
                <a:spcPct val="105000"/>
              </a:lnSpc>
              <a:spcBef>
                <a:spcPts val="0"/>
              </a:spcBef>
              <a:spcAft>
                <a:spcPts val="600"/>
              </a:spcAft>
            </a:pPr>
            <a:r>
              <a:rPr sz="1200" b="0" i="0">
                <a:solidFill>
                  <a:srgbClr val="9FB3C8"/>
                </a:solidFill>
                <a:latin typeface="Calibri"/>
              </a:rPr>
              <a:t>Host creates or joins a room; everyone sees the player list</a:t>
            </a:r>
          </a:p>
        </p:txBody>
      </p:sp>
      <p:sp>
        <p:nvSpPr>
          <p:cNvPr id="15" name="TextBox 14"/>
          <p:cNvSpPr txBox="1"/>
          <p:nvPr/>
        </p:nvSpPr>
        <p:spPr>
          <a:xfrm>
            <a:off x="4828032" y="2697480"/>
            <a:ext cx="237744" cy="1737360"/>
          </a:xfrm>
          <a:prstGeom prst="rect">
            <a:avLst/>
          </a:prstGeom>
          <a:noFill/>
        </p:spPr>
        <p:txBody>
          <a:bodyPr wrap="square" anchor="ctr" lIns="0" rIns="0" tIns="0" bIns="0">
            <a:spAutoFit/>
          </a:bodyPr>
          <a:lstStyle/>
          <a:p>
            <a:pPr algn="ctr">
              <a:lnSpc>
                <a:spcPct val="100000"/>
              </a:lnSpc>
              <a:spcBef>
                <a:spcPts val="0"/>
              </a:spcBef>
              <a:spcAft>
                <a:spcPts val="600"/>
              </a:spcAft>
            </a:pPr>
            <a:r>
              <a:rPr sz="2200" b="1" i="0">
                <a:solidFill>
                  <a:srgbClr val="2DD4EE"/>
                </a:solidFill>
                <a:latin typeface="Calibri"/>
              </a:rPr>
              <a:t>›</a:t>
            </a:r>
          </a:p>
        </p:txBody>
      </p:sp>
      <p:sp>
        <p:nvSpPr>
          <p:cNvPr id="16" name="Rectangle 15"/>
          <p:cNvSpPr/>
          <p:nvPr/>
        </p:nvSpPr>
        <p:spPr>
          <a:xfrm>
            <a:off x="4992624" y="2697480"/>
            <a:ext cx="1993392" cy="17373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2624" y="2697480"/>
            <a:ext cx="1993392" cy="82296"/>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57216" y="2898648"/>
            <a:ext cx="1664208" cy="45720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F5C242"/>
                </a:solidFill>
                <a:latin typeface="Calibri"/>
              </a:rPr>
              <a:t>LAUNCH</a:t>
            </a:r>
          </a:p>
        </p:txBody>
      </p:sp>
      <p:sp>
        <p:nvSpPr>
          <p:cNvPr id="19" name="TextBox 18"/>
          <p:cNvSpPr txBox="1"/>
          <p:nvPr/>
        </p:nvSpPr>
        <p:spPr>
          <a:xfrm>
            <a:off x="5157216" y="3355848"/>
            <a:ext cx="1664208" cy="1005840"/>
          </a:xfrm>
          <a:prstGeom prst="rect">
            <a:avLst/>
          </a:prstGeom>
          <a:noFill/>
        </p:spPr>
        <p:txBody>
          <a:bodyPr wrap="square" anchor="t" lIns="0" rIns="0" tIns="0" bIns="0">
            <a:spAutoFit/>
          </a:bodyPr>
          <a:lstStyle/>
          <a:p>
            <a:pPr algn="l">
              <a:lnSpc>
                <a:spcPct val="105000"/>
              </a:lnSpc>
              <a:spcBef>
                <a:spcPts val="0"/>
              </a:spcBef>
              <a:spcAft>
                <a:spcPts val="600"/>
              </a:spcAft>
            </a:pPr>
            <a:r>
              <a:rPr sz="1200" b="0" i="0">
                <a:solidFill>
                  <a:srgbClr val="9FB3C8"/>
                </a:solidFill>
                <a:latin typeface="Calibri"/>
              </a:rPr>
              <a:t>Host picks a job and loads the level for the whole room</a:t>
            </a:r>
          </a:p>
        </p:txBody>
      </p:sp>
      <p:sp>
        <p:nvSpPr>
          <p:cNvPr id="20" name="TextBox 19"/>
          <p:cNvSpPr txBox="1"/>
          <p:nvPr/>
        </p:nvSpPr>
        <p:spPr>
          <a:xfrm>
            <a:off x="6967728" y="2697480"/>
            <a:ext cx="237744" cy="1737360"/>
          </a:xfrm>
          <a:prstGeom prst="rect">
            <a:avLst/>
          </a:prstGeom>
          <a:noFill/>
        </p:spPr>
        <p:txBody>
          <a:bodyPr wrap="square" anchor="ctr" lIns="0" rIns="0" tIns="0" bIns="0">
            <a:spAutoFit/>
          </a:bodyPr>
          <a:lstStyle/>
          <a:p>
            <a:pPr algn="ctr">
              <a:lnSpc>
                <a:spcPct val="100000"/>
              </a:lnSpc>
              <a:spcBef>
                <a:spcPts val="0"/>
              </a:spcBef>
              <a:spcAft>
                <a:spcPts val="600"/>
              </a:spcAft>
            </a:pPr>
            <a:r>
              <a:rPr sz="2200" b="1" i="0">
                <a:solidFill>
                  <a:srgbClr val="2DD4EE"/>
                </a:solidFill>
                <a:latin typeface="Calibri"/>
              </a:rPr>
              <a:t>›</a:t>
            </a:r>
          </a:p>
        </p:txBody>
      </p:sp>
      <p:sp>
        <p:nvSpPr>
          <p:cNvPr id="21" name="Rectangle 20"/>
          <p:cNvSpPr/>
          <p:nvPr/>
        </p:nvSpPr>
        <p:spPr>
          <a:xfrm>
            <a:off x="7132320" y="2697480"/>
            <a:ext cx="1993392" cy="17373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2697480"/>
            <a:ext cx="1993392" cy="8229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96912" y="2898648"/>
            <a:ext cx="1664208" cy="45720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34D399"/>
                </a:solidFill>
                <a:latin typeface="Calibri"/>
              </a:rPr>
              <a:t>SPAWN</a:t>
            </a:r>
          </a:p>
        </p:txBody>
      </p:sp>
      <p:sp>
        <p:nvSpPr>
          <p:cNvPr id="24" name="TextBox 23"/>
          <p:cNvSpPr txBox="1"/>
          <p:nvPr/>
        </p:nvSpPr>
        <p:spPr>
          <a:xfrm>
            <a:off x="7296912" y="3355848"/>
            <a:ext cx="1664208" cy="1005840"/>
          </a:xfrm>
          <a:prstGeom prst="rect">
            <a:avLst/>
          </a:prstGeom>
          <a:noFill/>
        </p:spPr>
        <p:txBody>
          <a:bodyPr wrap="square" anchor="t" lIns="0" rIns="0" tIns="0" bIns="0">
            <a:spAutoFit/>
          </a:bodyPr>
          <a:lstStyle/>
          <a:p>
            <a:pPr algn="l">
              <a:lnSpc>
                <a:spcPct val="105000"/>
              </a:lnSpc>
              <a:spcBef>
                <a:spcPts val="0"/>
              </a:spcBef>
              <a:spcAft>
                <a:spcPts val="600"/>
              </a:spcAft>
            </a:pPr>
            <a:r>
              <a:rPr sz="1200" b="0" i="0">
                <a:solidFill>
                  <a:srgbClr val="9FB3C8"/>
                </a:solidFill>
                <a:latin typeface="Calibri"/>
              </a:rPr>
              <a:t>Each player spawns the right character for that scene</a:t>
            </a:r>
          </a:p>
        </p:txBody>
      </p:sp>
      <p:sp>
        <p:nvSpPr>
          <p:cNvPr id="25" name="TextBox 24"/>
          <p:cNvSpPr txBox="1"/>
          <p:nvPr/>
        </p:nvSpPr>
        <p:spPr>
          <a:xfrm>
            <a:off x="9107424" y="2697480"/>
            <a:ext cx="237744" cy="1737360"/>
          </a:xfrm>
          <a:prstGeom prst="rect">
            <a:avLst/>
          </a:prstGeom>
          <a:noFill/>
        </p:spPr>
        <p:txBody>
          <a:bodyPr wrap="square" anchor="ctr" lIns="0" rIns="0" tIns="0" bIns="0">
            <a:spAutoFit/>
          </a:bodyPr>
          <a:lstStyle/>
          <a:p>
            <a:pPr algn="ctr">
              <a:lnSpc>
                <a:spcPct val="100000"/>
              </a:lnSpc>
              <a:spcBef>
                <a:spcPts val="0"/>
              </a:spcBef>
              <a:spcAft>
                <a:spcPts val="600"/>
              </a:spcAft>
            </a:pPr>
            <a:r>
              <a:rPr sz="2200" b="1" i="0">
                <a:solidFill>
                  <a:srgbClr val="2DD4EE"/>
                </a:solidFill>
                <a:latin typeface="Calibri"/>
              </a:rPr>
              <a:t>›</a:t>
            </a:r>
          </a:p>
        </p:txBody>
      </p:sp>
      <p:sp>
        <p:nvSpPr>
          <p:cNvPr id="26" name="Rectangle 25"/>
          <p:cNvSpPr/>
          <p:nvPr/>
        </p:nvSpPr>
        <p:spPr>
          <a:xfrm>
            <a:off x="9272016" y="2697480"/>
            <a:ext cx="1993392" cy="173736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72016" y="2697480"/>
            <a:ext cx="1993392" cy="8229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36608" y="2898648"/>
            <a:ext cx="1664208" cy="45720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2DD4EE"/>
                </a:solidFill>
                <a:latin typeface="Calibri"/>
              </a:rPr>
              <a:t>PLAY</a:t>
            </a:r>
          </a:p>
        </p:txBody>
      </p:sp>
      <p:sp>
        <p:nvSpPr>
          <p:cNvPr id="29" name="TextBox 28"/>
          <p:cNvSpPr txBox="1"/>
          <p:nvPr/>
        </p:nvSpPr>
        <p:spPr>
          <a:xfrm>
            <a:off x="9436608" y="3355848"/>
            <a:ext cx="1664208" cy="1005840"/>
          </a:xfrm>
          <a:prstGeom prst="rect">
            <a:avLst/>
          </a:prstGeom>
          <a:noFill/>
        </p:spPr>
        <p:txBody>
          <a:bodyPr wrap="square" anchor="t" lIns="0" rIns="0" tIns="0" bIns="0">
            <a:spAutoFit/>
          </a:bodyPr>
          <a:lstStyle/>
          <a:p>
            <a:pPr algn="l">
              <a:lnSpc>
                <a:spcPct val="105000"/>
              </a:lnSpc>
              <a:spcBef>
                <a:spcPts val="0"/>
              </a:spcBef>
              <a:spcAft>
                <a:spcPts val="600"/>
              </a:spcAft>
            </a:pPr>
            <a:r>
              <a:rPr sz="1200" b="0" i="0">
                <a:solidFill>
                  <a:srgbClr val="9FB3C8"/>
                </a:solidFill>
                <a:latin typeface="Calibri"/>
              </a:rPr>
              <a:t>Movement &amp; scores sync live across all players</a:t>
            </a:r>
          </a:p>
        </p:txBody>
      </p:sp>
      <p:sp>
        <p:nvSpPr>
          <p:cNvPr id="30" name="Rectangle 29"/>
          <p:cNvSpPr/>
          <p:nvPr/>
        </p:nvSpPr>
        <p:spPr>
          <a:xfrm>
            <a:off x="713232" y="4800600"/>
            <a:ext cx="10762488" cy="9144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 y="4800600"/>
            <a:ext cx="82296" cy="9144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4937760"/>
            <a:ext cx="10241280" cy="685800"/>
          </a:xfrm>
          <a:prstGeom prst="rect">
            <a:avLst/>
          </a:prstGeom>
          <a:noFill/>
        </p:spPr>
        <p:txBody>
          <a:bodyPr wrap="square" anchor="t" lIns="0" rIns="0" tIns="0" bIns="0">
            <a:spAutoFit/>
          </a:bodyPr>
          <a:lstStyle/>
          <a:p>
            <a:pPr algn="l">
              <a:lnSpc>
                <a:spcPct val="108000"/>
              </a:lnSpc>
              <a:spcBef>
                <a:spcPts val="0"/>
              </a:spcBef>
              <a:spcAft>
                <a:spcPts val="600"/>
              </a:spcAft>
            </a:pPr>
            <a:r>
              <a:rPr sz="1300" b="1" i="0">
                <a:solidFill>
                  <a:srgbClr val="38BDF8"/>
                </a:solidFill>
                <a:latin typeface="Calibri"/>
              </a:rPr>
              <a:t>Under the hood:  </a:t>
            </a:r>
            <a:r>
              <a:rPr sz="1300" b="0" i="0">
                <a:solidFill>
                  <a:srgbClr val="9FB3C8"/>
                </a:solidFill>
                <a:latin typeface="Calibri"/>
              </a:rPr>
              <a:t>a persistent RoomManager keeps players in sync across scene loads, a networked PlayerManager spawns the correct character per job, and host-controlled level loading keeps the whole room on the same map.</a:t>
            </a:r>
          </a:p>
        </p:txBody>
      </p:sp>
      <p:sp>
        <p:nvSpPr>
          <p:cNvPr id="33" name="TextBox 32"/>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34" name="TextBox 33"/>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MULTIPLAYER</a:t>
            </a:r>
          </a:p>
        </p:txBody>
      </p:sp>
      <p:sp>
        <p:nvSpPr>
          <p:cNvPr id="35" name="TextBox 34"/>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06  ·  LIVE SCOREBOARD</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Competing in Real Time</a:t>
            </a:r>
          </a:p>
        </p:txBody>
      </p:sp>
      <p:sp>
        <p:nvSpPr>
          <p:cNvPr id="5" name="TextBox 4"/>
          <p:cNvSpPr txBox="1"/>
          <p:nvPr/>
        </p:nvSpPr>
        <p:spPr>
          <a:xfrm>
            <a:off x="713232" y="1737360"/>
            <a:ext cx="6035040" cy="914400"/>
          </a:xfrm>
          <a:prstGeom prst="rect">
            <a:avLst/>
          </a:prstGeom>
          <a:noFill/>
        </p:spPr>
        <p:txBody>
          <a:bodyPr wrap="square" anchor="t" lIns="0" rIns="0" tIns="0" bIns="0">
            <a:spAutoFit/>
          </a:bodyPr>
          <a:lstStyle/>
          <a:p>
            <a:pPr algn="l">
              <a:lnSpc>
                <a:spcPct val="112000"/>
              </a:lnSpc>
              <a:spcBef>
                <a:spcPts val="0"/>
              </a:spcBef>
              <a:spcAft>
                <a:spcPts val="600"/>
              </a:spcAft>
            </a:pPr>
            <a:r>
              <a:rPr sz="1500" b="0" i="0">
                <a:solidFill>
                  <a:srgbClr val="F1F5F9"/>
                </a:solidFill>
                <a:latin typeface="Calibri"/>
              </a:rPr>
              <a:t>Every delivery, repair, and task earns points. A live scoreboard shows where everyone stands — instantly, for all players in the room.</a:t>
            </a:r>
          </a:p>
        </p:txBody>
      </p:sp>
      <p:sp>
        <p:nvSpPr>
          <p:cNvPr id="6" name="Rectangle 5"/>
          <p:cNvSpPr/>
          <p:nvPr/>
        </p:nvSpPr>
        <p:spPr>
          <a:xfrm>
            <a:off x="713232" y="2743200"/>
            <a:ext cx="5989320" cy="676656"/>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743200"/>
            <a:ext cx="82296" cy="67665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825496"/>
            <a:ext cx="5577840" cy="54864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FFFFF"/>
                </a:solidFill>
                <a:latin typeface="Calibri"/>
              </a:rPr>
              <a:t>Backend-agnostic core</a:t>
            </a:r>
          </a:p>
          <a:p>
            <a:pPr algn="l">
              <a:lnSpc>
                <a:spcPct val="100000"/>
              </a:lnSpc>
              <a:spcBef>
                <a:spcPts val="0"/>
              </a:spcBef>
              <a:spcAft>
                <a:spcPts val="100"/>
              </a:spcAft>
            </a:pPr>
            <a:r>
              <a:rPr sz="1100" b="0" i="0">
                <a:solidFill>
                  <a:srgbClr val="9FB3C8"/>
                </a:solidFill>
                <a:latin typeface="Calibri"/>
              </a:rPr>
              <a:t>A single ScoreManager owns the score and fires events — gameplay never talks to the network directly.</a:t>
            </a:r>
          </a:p>
        </p:txBody>
      </p:sp>
      <p:sp>
        <p:nvSpPr>
          <p:cNvPr id="9" name="Rectangle 8"/>
          <p:cNvSpPr/>
          <p:nvPr/>
        </p:nvSpPr>
        <p:spPr>
          <a:xfrm>
            <a:off x="713232" y="3493008"/>
            <a:ext cx="5989320" cy="676656"/>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3493008"/>
            <a:ext cx="82296" cy="67665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75304"/>
            <a:ext cx="5577840" cy="54864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FFFFF"/>
                </a:solidFill>
                <a:latin typeface="Calibri"/>
              </a:rPr>
              <a:t>Synced over Photon</a:t>
            </a:r>
          </a:p>
          <a:p>
            <a:pPr algn="l">
              <a:lnSpc>
                <a:spcPct val="100000"/>
              </a:lnSpc>
              <a:spcBef>
                <a:spcPts val="0"/>
              </a:spcBef>
              <a:spcAft>
                <a:spcPts val="100"/>
              </a:spcAft>
            </a:pPr>
            <a:r>
              <a:rPr sz="1100" b="0" i="0">
                <a:solidFill>
                  <a:srgbClr val="9FB3C8"/>
                </a:solidFill>
                <a:latin typeface="Calibri"/>
              </a:rPr>
              <a:t>ScoreNetworkSync pushes each score into Photon properties, so all players see updates live.</a:t>
            </a:r>
          </a:p>
        </p:txBody>
      </p:sp>
      <p:sp>
        <p:nvSpPr>
          <p:cNvPr id="12" name="Rectangle 11"/>
          <p:cNvSpPr/>
          <p:nvPr/>
        </p:nvSpPr>
        <p:spPr>
          <a:xfrm>
            <a:off x="713232" y="4242816"/>
            <a:ext cx="5989320" cy="676656"/>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4242816"/>
            <a:ext cx="82296" cy="67665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325112"/>
            <a:ext cx="5577840" cy="54864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FFFFF"/>
                </a:solidFill>
                <a:latin typeface="Calibri"/>
              </a:rPr>
              <a:t>Toggle anytime</a:t>
            </a:r>
          </a:p>
          <a:p>
            <a:pPr algn="l">
              <a:lnSpc>
                <a:spcPct val="100000"/>
              </a:lnSpc>
              <a:spcBef>
                <a:spcPts val="0"/>
              </a:spcBef>
              <a:spcAft>
                <a:spcPts val="100"/>
              </a:spcAft>
            </a:pPr>
            <a:r>
              <a:rPr sz="1100" b="0" i="0">
                <a:solidFill>
                  <a:srgbClr val="9FB3C8"/>
                </a:solidFill>
                <a:latin typeface="Calibri"/>
              </a:rPr>
              <a:t>Press a key to pop the full scoreboard, sorted highest-first, mid-match.</a:t>
            </a:r>
          </a:p>
        </p:txBody>
      </p:sp>
      <p:sp>
        <p:nvSpPr>
          <p:cNvPr id="15" name="Rectangle 14"/>
          <p:cNvSpPr/>
          <p:nvPr/>
        </p:nvSpPr>
        <p:spPr>
          <a:xfrm>
            <a:off x="713232" y="4992624"/>
            <a:ext cx="5989320" cy="676656"/>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4992624"/>
            <a:ext cx="82296" cy="67665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074920"/>
            <a:ext cx="5577840" cy="548640"/>
          </a:xfrm>
          <a:prstGeom prst="rect">
            <a:avLst/>
          </a:prstGeom>
          <a:noFill/>
        </p:spPr>
        <p:txBody>
          <a:bodyPr wrap="square" anchor="t" lIns="0" rIns="0" tIns="0" bIns="0">
            <a:spAutoFit/>
          </a:bodyPr>
          <a:lstStyle/>
          <a:p>
            <a:pPr algn="l">
              <a:lnSpc>
                <a:spcPct val="100000"/>
              </a:lnSpc>
              <a:spcBef>
                <a:spcPts val="0"/>
              </a:spcBef>
              <a:spcAft>
                <a:spcPts val="100"/>
              </a:spcAft>
            </a:pPr>
            <a:r>
              <a:rPr sz="1300" b="1" i="0">
                <a:solidFill>
                  <a:srgbClr val="FFFFFF"/>
                </a:solidFill>
                <a:latin typeface="Calibri"/>
              </a:rPr>
              <a:t>Clean HUD</a:t>
            </a:r>
          </a:p>
          <a:p>
            <a:pPr algn="l">
              <a:lnSpc>
                <a:spcPct val="100000"/>
              </a:lnSpc>
              <a:spcBef>
                <a:spcPts val="0"/>
              </a:spcBef>
              <a:spcAft>
                <a:spcPts val="100"/>
              </a:spcAft>
            </a:pPr>
            <a:r>
              <a:rPr sz="1100" b="0" i="0">
                <a:solidFill>
                  <a:srgbClr val="9FB3C8"/>
                </a:solidFill>
                <a:latin typeface="Calibri"/>
              </a:rPr>
              <a:t>A lightweight on-screen score display keeps your own total always visible.</a:t>
            </a:r>
          </a:p>
        </p:txBody>
      </p:sp>
      <p:sp>
        <p:nvSpPr>
          <p:cNvPr id="18" name="Rectangle 17"/>
          <p:cNvSpPr/>
          <p:nvPr/>
        </p:nvSpPr>
        <p:spPr>
          <a:xfrm>
            <a:off x="7086600" y="1737360"/>
            <a:ext cx="4389120" cy="416052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86600" y="1737360"/>
            <a:ext cx="4389120" cy="54864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0920" y="1737360"/>
            <a:ext cx="3840480" cy="548640"/>
          </a:xfrm>
          <a:prstGeom prst="rect">
            <a:avLst/>
          </a:prstGeom>
          <a:noFill/>
        </p:spPr>
        <p:txBody>
          <a:bodyPr wrap="square" anchor="ctr" lIns="0" rIns="0" tIns="0" bIns="0">
            <a:spAutoFit/>
          </a:bodyPr>
          <a:lstStyle/>
          <a:p>
            <a:pPr algn="l">
              <a:lnSpc>
                <a:spcPct val="100000"/>
              </a:lnSpc>
              <a:spcBef>
                <a:spcPts val="0"/>
              </a:spcBef>
              <a:spcAft>
                <a:spcPts val="600"/>
              </a:spcAft>
            </a:pPr>
            <a:r>
              <a:rPr sz="1500" b="1" i="0">
                <a:solidFill>
                  <a:srgbClr val="0E1A2B"/>
                </a:solidFill>
                <a:latin typeface="Calibri"/>
              </a:rPr>
              <a:t>LIVE SCOREBOARD</a:t>
            </a:r>
          </a:p>
        </p:txBody>
      </p:sp>
      <p:sp>
        <p:nvSpPr>
          <p:cNvPr id="21" name="Rectangle 20"/>
          <p:cNvSpPr/>
          <p:nvPr/>
        </p:nvSpPr>
        <p:spPr>
          <a:xfrm>
            <a:off x="7360920" y="2514600"/>
            <a:ext cx="3840480" cy="713232"/>
          </a:xfrm>
          <a:prstGeom prst="rect">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0" y="2514600"/>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2DD4EE"/>
                </a:solidFill>
                <a:latin typeface="Calibri"/>
              </a:rPr>
              <a:t>1</a:t>
            </a:r>
          </a:p>
        </p:txBody>
      </p:sp>
      <p:sp>
        <p:nvSpPr>
          <p:cNvPr id="23" name="TextBox 22"/>
          <p:cNvSpPr txBox="1"/>
          <p:nvPr/>
        </p:nvSpPr>
        <p:spPr>
          <a:xfrm>
            <a:off x="8138160" y="2514600"/>
            <a:ext cx="2103120" cy="713232"/>
          </a:xfrm>
          <a:prstGeom prst="rect">
            <a:avLst/>
          </a:prstGeom>
          <a:noFill/>
        </p:spPr>
        <p:txBody>
          <a:bodyPr wrap="square" anchor="ctr" lIns="0" rIns="0" tIns="0" bIns="0">
            <a:spAutoFit/>
          </a:bodyPr>
          <a:lstStyle/>
          <a:p>
            <a:pPr algn="l">
              <a:lnSpc>
                <a:spcPct val="100000"/>
              </a:lnSpc>
              <a:spcBef>
                <a:spcPts val="0"/>
              </a:spcBef>
              <a:spcAft>
                <a:spcPts val="600"/>
              </a:spcAft>
            </a:pPr>
            <a:r>
              <a:rPr sz="1600" b="1" i="0">
                <a:solidFill>
                  <a:srgbClr val="F5C242"/>
                </a:solidFill>
                <a:latin typeface="Calibri"/>
              </a:rPr>
              <a:t>Jackson</a:t>
            </a:r>
          </a:p>
        </p:txBody>
      </p:sp>
      <p:sp>
        <p:nvSpPr>
          <p:cNvPr id="24" name="TextBox 23"/>
          <p:cNvSpPr txBox="1"/>
          <p:nvPr/>
        </p:nvSpPr>
        <p:spPr>
          <a:xfrm>
            <a:off x="10012680" y="2514600"/>
            <a:ext cx="1005840" cy="713232"/>
          </a:xfrm>
          <a:prstGeom prst="rect">
            <a:avLst/>
          </a:prstGeom>
          <a:noFill/>
        </p:spPr>
        <p:txBody>
          <a:bodyPr wrap="square" anchor="ctr" lIns="0" rIns="0" tIns="0" bIns="0">
            <a:spAutoFit/>
          </a:bodyPr>
          <a:lstStyle/>
          <a:p>
            <a:pPr algn="r">
              <a:lnSpc>
                <a:spcPct val="100000"/>
              </a:lnSpc>
              <a:spcBef>
                <a:spcPts val="0"/>
              </a:spcBef>
              <a:spcAft>
                <a:spcPts val="600"/>
              </a:spcAft>
            </a:pPr>
            <a:r>
              <a:rPr sz="2000" b="1" i="0">
                <a:solidFill>
                  <a:srgbClr val="2DD4EE"/>
                </a:solidFill>
                <a:latin typeface="Calibri"/>
              </a:rPr>
              <a:t>120</a:t>
            </a:r>
          </a:p>
        </p:txBody>
      </p:sp>
      <p:sp>
        <p:nvSpPr>
          <p:cNvPr id="25" name="Rectangle 24"/>
          <p:cNvSpPr/>
          <p:nvPr/>
        </p:nvSpPr>
        <p:spPr>
          <a:xfrm>
            <a:off x="7360920" y="3319272"/>
            <a:ext cx="3840480" cy="713232"/>
          </a:xfrm>
          <a:prstGeom prst="rect">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0" y="3319272"/>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2DD4EE"/>
                </a:solidFill>
                <a:latin typeface="Calibri"/>
              </a:rPr>
              <a:t>2</a:t>
            </a:r>
          </a:p>
        </p:txBody>
      </p:sp>
      <p:sp>
        <p:nvSpPr>
          <p:cNvPr id="27" name="TextBox 26"/>
          <p:cNvSpPr txBox="1"/>
          <p:nvPr/>
        </p:nvSpPr>
        <p:spPr>
          <a:xfrm>
            <a:off x="8138160" y="3319272"/>
            <a:ext cx="2103120" cy="713232"/>
          </a:xfrm>
          <a:prstGeom prst="rect">
            <a:avLst/>
          </a:prstGeom>
          <a:noFill/>
        </p:spPr>
        <p:txBody>
          <a:bodyPr wrap="square" anchor="ctr" lIns="0" rIns="0" tIns="0" bIns="0">
            <a:spAutoFit/>
          </a:bodyPr>
          <a:lstStyle/>
          <a:p>
            <a:pPr algn="l">
              <a:lnSpc>
                <a:spcPct val="100000"/>
              </a:lnSpc>
              <a:spcBef>
                <a:spcPts val="0"/>
              </a:spcBef>
              <a:spcAft>
                <a:spcPts val="600"/>
              </a:spcAft>
            </a:pPr>
            <a:r>
              <a:rPr sz="1600" b="1" i="0">
                <a:solidFill>
                  <a:srgbClr val="F1F5F9"/>
                </a:solidFill>
                <a:latin typeface="Calibri"/>
              </a:rPr>
              <a:t>Blayne</a:t>
            </a:r>
          </a:p>
        </p:txBody>
      </p:sp>
      <p:sp>
        <p:nvSpPr>
          <p:cNvPr id="28" name="TextBox 27"/>
          <p:cNvSpPr txBox="1"/>
          <p:nvPr/>
        </p:nvSpPr>
        <p:spPr>
          <a:xfrm>
            <a:off x="10012680" y="3319272"/>
            <a:ext cx="1005840" cy="713232"/>
          </a:xfrm>
          <a:prstGeom prst="rect">
            <a:avLst/>
          </a:prstGeom>
          <a:noFill/>
        </p:spPr>
        <p:txBody>
          <a:bodyPr wrap="square" anchor="ctr" lIns="0" rIns="0" tIns="0" bIns="0">
            <a:spAutoFit/>
          </a:bodyPr>
          <a:lstStyle/>
          <a:p>
            <a:pPr algn="r">
              <a:lnSpc>
                <a:spcPct val="100000"/>
              </a:lnSpc>
              <a:spcBef>
                <a:spcPts val="0"/>
              </a:spcBef>
              <a:spcAft>
                <a:spcPts val="600"/>
              </a:spcAft>
            </a:pPr>
            <a:r>
              <a:rPr sz="2000" b="1" i="0">
                <a:solidFill>
                  <a:srgbClr val="2DD4EE"/>
                </a:solidFill>
                <a:latin typeface="Calibri"/>
              </a:rPr>
              <a:t>90</a:t>
            </a:r>
          </a:p>
        </p:txBody>
      </p:sp>
      <p:sp>
        <p:nvSpPr>
          <p:cNvPr id="29" name="Rectangle 28"/>
          <p:cNvSpPr/>
          <p:nvPr/>
        </p:nvSpPr>
        <p:spPr>
          <a:xfrm>
            <a:off x="7360920" y="4123944"/>
            <a:ext cx="3840480" cy="713232"/>
          </a:xfrm>
          <a:prstGeom prst="rect">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43800" y="4123944"/>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2DD4EE"/>
                </a:solidFill>
                <a:latin typeface="Calibri"/>
              </a:rPr>
              <a:t>3</a:t>
            </a:r>
          </a:p>
        </p:txBody>
      </p:sp>
      <p:sp>
        <p:nvSpPr>
          <p:cNvPr id="31" name="TextBox 30"/>
          <p:cNvSpPr txBox="1"/>
          <p:nvPr/>
        </p:nvSpPr>
        <p:spPr>
          <a:xfrm>
            <a:off x="8138160" y="4123944"/>
            <a:ext cx="2103120" cy="713232"/>
          </a:xfrm>
          <a:prstGeom prst="rect">
            <a:avLst/>
          </a:prstGeom>
          <a:noFill/>
        </p:spPr>
        <p:txBody>
          <a:bodyPr wrap="square" anchor="ctr" lIns="0" rIns="0" tIns="0" bIns="0">
            <a:spAutoFit/>
          </a:bodyPr>
          <a:lstStyle/>
          <a:p>
            <a:pPr algn="l">
              <a:lnSpc>
                <a:spcPct val="100000"/>
              </a:lnSpc>
              <a:spcBef>
                <a:spcPts val="0"/>
              </a:spcBef>
              <a:spcAft>
                <a:spcPts val="600"/>
              </a:spcAft>
            </a:pPr>
            <a:r>
              <a:rPr sz="1600" b="1" i="0">
                <a:solidFill>
                  <a:srgbClr val="F1F5F9"/>
                </a:solidFill>
                <a:latin typeface="Calibri"/>
              </a:rPr>
              <a:t>Jakob</a:t>
            </a:r>
          </a:p>
        </p:txBody>
      </p:sp>
      <p:sp>
        <p:nvSpPr>
          <p:cNvPr id="32" name="TextBox 31"/>
          <p:cNvSpPr txBox="1"/>
          <p:nvPr/>
        </p:nvSpPr>
        <p:spPr>
          <a:xfrm>
            <a:off x="10012680" y="4123944"/>
            <a:ext cx="1005840" cy="713232"/>
          </a:xfrm>
          <a:prstGeom prst="rect">
            <a:avLst/>
          </a:prstGeom>
          <a:noFill/>
        </p:spPr>
        <p:txBody>
          <a:bodyPr wrap="square" anchor="ctr" lIns="0" rIns="0" tIns="0" bIns="0">
            <a:spAutoFit/>
          </a:bodyPr>
          <a:lstStyle/>
          <a:p>
            <a:pPr algn="r">
              <a:lnSpc>
                <a:spcPct val="100000"/>
              </a:lnSpc>
              <a:spcBef>
                <a:spcPts val="0"/>
              </a:spcBef>
              <a:spcAft>
                <a:spcPts val="600"/>
              </a:spcAft>
            </a:pPr>
            <a:r>
              <a:rPr sz="2000" b="1" i="0">
                <a:solidFill>
                  <a:srgbClr val="2DD4EE"/>
                </a:solidFill>
                <a:latin typeface="Calibri"/>
              </a:rPr>
              <a:t>80</a:t>
            </a:r>
          </a:p>
        </p:txBody>
      </p:sp>
      <p:sp>
        <p:nvSpPr>
          <p:cNvPr id="33" name="Rectangle 32"/>
          <p:cNvSpPr/>
          <p:nvPr/>
        </p:nvSpPr>
        <p:spPr>
          <a:xfrm>
            <a:off x="7360920" y="4928616"/>
            <a:ext cx="3840480" cy="713232"/>
          </a:xfrm>
          <a:prstGeom prst="rect">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43800" y="4928616"/>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2DD4EE"/>
                </a:solidFill>
                <a:latin typeface="Calibri"/>
              </a:rPr>
              <a:t>4</a:t>
            </a:r>
          </a:p>
        </p:txBody>
      </p:sp>
      <p:sp>
        <p:nvSpPr>
          <p:cNvPr id="35" name="TextBox 34"/>
          <p:cNvSpPr txBox="1"/>
          <p:nvPr/>
        </p:nvSpPr>
        <p:spPr>
          <a:xfrm>
            <a:off x="8138160" y="4928616"/>
            <a:ext cx="2103120" cy="713232"/>
          </a:xfrm>
          <a:prstGeom prst="rect">
            <a:avLst/>
          </a:prstGeom>
          <a:noFill/>
        </p:spPr>
        <p:txBody>
          <a:bodyPr wrap="square" anchor="ctr" lIns="0" rIns="0" tIns="0" bIns="0">
            <a:spAutoFit/>
          </a:bodyPr>
          <a:lstStyle/>
          <a:p>
            <a:pPr algn="l">
              <a:lnSpc>
                <a:spcPct val="100000"/>
              </a:lnSpc>
              <a:spcBef>
                <a:spcPts val="0"/>
              </a:spcBef>
              <a:spcAft>
                <a:spcPts val="600"/>
              </a:spcAft>
            </a:pPr>
            <a:r>
              <a:rPr sz="1600" b="1" i="0">
                <a:solidFill>
                  <a:srgbClr val="9FB3C8"/>
                </a:solidFill>
                <a:latin typeface="Calibri"/>
              </a:rPr>
              <a:t>Guest_417</a:t>
            </a:r>
          </a:p>
        </p:txBody>
      </p:sp>
      <p:sp>
        <p:nvSpPr>
          <p:cNvPr id="36" name="TextBox 35"/>
          <p:cNvSpPr txBox="1"/>
          <p:nvPr/>
        </p:nvSpPr>
        <p:spPr>
          <a:xfrm>
            <a:off x="10012680" y="4928616"/>
            <a:ext cx="1005840" cy="713232"/>
          </a:xfrm>
          <a:prstGeom prst="rect">
            <a:avLst/>
          </a:prstGeom>
          <a:noFill/>
        </p:spPr>
        <p:txBody>
          <a:bodyPr wrap="square" anchor="ctr" lIns="0" rIns="0" tIns="0" bIns="0">
            <a:spAutoFit/>
          </a:bodyPr>
          <a:lstStyle/>
          <a:p>
            <a:pPr algn="r">
              <a:lnSpc>
                <a:spcPct val="100000"/>
              </a:lnSpc>
              <a:spcBef>
                <a:spcPts val="0"/>
              </a:spcBef>
              <a:spcAft>
                <a:spcPts val="600"/>
              </a:spcAft>
            </a:pPr>
            <a:r>
              <a:rPr sz="2000" b="1" i="0">
                <a:solidFill>
                  <a:srgbClr val="2DD4EE"/>
                </a:solidFill>
                <a:latin typeface="Calibri"/>
              </a:rPr>
              <a:t>40</a:t>
            </a:r>
          </a:p>
        </p:txBody>
      </p:sp>
      <p:sp>
        <p:nvSpPr>
          <p:cNvPr id="37" name="TextBox 36"/>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38" name="TextBox 37"/>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LIVE SCOREBOARD</a:t>
            </a:r>
          </a:p>
        </p:txBody>
      </p:sp>
      <p:sp>
        <p:nvSpPr>
          <p:cNvPr id="39" name="TextBox 38"/>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34D399"/>
                </a:solidFill>
                <a:latin typeface="Calibri"/>
              </a:rPr>
              <a:t>07  ·  ACCOUNTS &amp; LEADERBOARD</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Cloud Progression with Firebase</a:t>
            </a:r>
          </a:p>
        </p:txBody>
      </p:sp>
      <p:sp>
        <p:nvSpPr>
          <p:cNvPr id="5" name="TextBox 4"/>
          <p:cNvSpPr txBox="1"/>
          <p:nvPr/>
        </p:nvSpPr>
        <p:spPr>
          <a:xfrm>
            <a:off x="713232" y="1737360"/>
            <a:ext cx="10607040" cy="548640"/>
          </a:xfrm>
          <a:prstGeom prst="rect">
            <a:avLst/>
          </a:prstGeom>
          <a:noFill/>
        </p:spPr>
        <p:txBody>
          <a:bodyPr wrap="square" anchor="t" lIns="0" rIns="0" tIns="0" bIns="0">
            <a:spAutoFit/>
          </a:bodyPr>
          <a:lstStyle/>
          <a:p>
            <a:pPr algn="l">
              <a:lnSpc>
                <a:spcPct val="110000"/>
              </a:lnSpc>
              <a:spcBef>
                <a:spcPts val="0"/>
              </a:spcBef>
              <a:spcAft>
                <a:spcPts val="600"/>
              </a:spcAft>
            </a:pPr>
            <a:r>
              <a:rPr sz="1500" b="1" i="0">
                <a:solidFill>
                  <a:srgbClr val="34D399"/>
                </a:solidFill>
                <a:latin typeface="Calibri"/>
              </a:rPr>
              <a:t>New for Nationals: </a:t>
            </a:r>
            <a:r>
              <a:rPr sz="1500" b="0" i="0">
                <a:solidFill>
                  <a:srgbClr val="F1F5F9"/>
                </a:solidFill>
                <a:latin typeface="Calibri"/>
              </a:rPr>
              <a:t>players can create an account, sign in, and have their best scores saved to a global leaderboard in the cloud.</a:t>
            </a:r>
          </a:p>
        </p:txBody>
      </p:sp>
      <p:sp>
        <p:nvSpPr>
          <p:cNvPr id="6" name="Rectangle 5"/>
          <p:cNvSpPr/>
          <p:nvPr/>
        </p:nvSpPr>
        <p:spPr>
          <a:xfrm>
            <a:off x="713232" y="2514600"/>
            <a:ext cx="3429000" cy="32004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514600"/>
            <a:ext cx="3429000" cy="8229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15768"/>
            <a:ext cx="3063240" cy="2834640"/>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ACCOUNTS</a:t>
            </a:r>
          </a:p>
          <a:p>
            <a:pPr algn="l">
              <a:lnSpc>
                <a:spcPct val="105000"/>
              </a:lnSpc>
              <a:spcBef>
                <a:spcPts val="0"/>
              </a:spcBef>
              <a:spcAft>
                <a:spcPts val="500"/>
              </a:spcAft>
            </a:pPr>
            <a:r>
              <a:rPr sz="1200" b="1" i="0">
                <a:solidFill>
                  <a:srgbClr val="34D399"/>
                </a:solidFill>
                <a:latin typeface="Calibri"/>
              </a:rPr>
              <a:t>•  </a:t>
            </a:r>
            <a:r>
              <a:rPr sz="1200" b="0" i="0">
                <a:solidFill>
                  <a:srgbClr val="9FB3C8"/>
                </a:solidFill>
                <a:latin typeface="Calibri"/>
              </a:rPr>
              <a:t>Sign up with email &amp; display name</a:t>
            </a:r>
          </a:p>
          <a:p>
            <a:pPr algn="l">
              <a:lnSpc>
                <a:spcPct val="105000"/>
              </a:lnSpc>
              <a:spcBef>
                <a:spcPts val="0"/>
              </a:spcBef>
              <a:spcAft>
                <a:spcPts val="500"/>
              </a:spcAft>
            </a:pPr>
            <a:r>
              <a:rPr sz="1200" b="1" i="0">
                <a:solidFill>
                  <a:srgbClr val="34D399"/>
                </a:solidFill>
                <a:latin typeface="Calibri"/>
              </a:rPr>
              <a:t>•  </a:t>
            </a:r>
            <a:r>
              <a:rPr sz="1200" b="0" i="0">
                <a:solidFill>
                  <a:srgbClr val="9FB3C8"/>
                </a:solidFill>
                <a:latin typeface="Calibri"/>
              </a:rPr>
              <a:t>Secure sign-in via Firebase Auth</a:t>
            </a:r>
          </a:p>
          <a:p>
            <a:pPr algn="l">
              <a:lnSpc>
                <a:spcPct val="105000"/>
              </a:lnSpc>
              <a:spcBef>
                <a:spcPts val="0"/>
              </a:spcBef>
              <a:spcAft>
                <a:spcPts val="500"/>
              </a:spcAft>
            </a:pPr>
            <a:r>
              <a:rPr sz="1200" b="1" i="0">
                <a:solidFill>
                  <a:srgbClr val="34D399"/>
                </a:solidFill>
                <a:latin typeface="Calibri"/>
              </a:rPr>
              <a:t>•  </a:t>
            </a:r>
            <a:r>
              <a:rPr sz="1200" b="0" i="0">
                <a:solidFill>
                  <a:srgbClr val="9FB3C8"/>
                </a:solidFill>
                <a:latin typeface="Calibri"/>
              </a:rPr>
              <a:t>Continue as Guest — no account needed</a:t>
            </a:r>
          </a:p>
          <a:p>
            <a:pPr algn="l">
              <a:lnSpc>
                <a:spcPct val="105000"/>
              </a:lnSpc>
              <a:spcBef>
                <a:spcPts val="0"/>
              </a:spcBef>
              <a:spcAft>
                <a:spcPts val="500"/>
              </a:spcAft>
            </a:pPr>
            <a:r>
              <a:rPr sz="1200" b="1" i="0">
                <a:solidFill>
                  <a:srgbClr val="34D399"/>
                </a:solidFill>
                <a:latin typeface="Calibri"/>
              </a:rPr>
              <a:t>•  </a:t>
            </a:r>
            <a:r>
              <a:rPr sz="1200" b="0" i="0">
                <a:solidFill>
                  <a:srgbClr val="9FB3C8"/>
                </a:solidFill>
                <a:latin typeface="Calibri"/>
              </a:rPr>
              <a:t>Session persists across scenes</a:t>
            </a:r>
          </a:p>
          <a:p>
            <a:pPr algn="l">
              <a:lnSpc>
                <a:spcPct val="105000"/>
              </a:lnSpc>
              <a:spcBef>
                <a:spcPts val="0"/>
              </a:spcBef>
              <a:spcAft>
                <a:spcPts val="500"/>
              </a:spcAft>
            </a:pPr>
            <a:r>
              <a:rPr sz="1200" b="1" i="0">
                <a:solidFill>
                  <a:srgbClr val="34D399"/>
                </a:solidFill>
                <a:latin typeface="Calibri"/>
              </a:rPr>
              <a:t>•  </a:t>
            </a:r>
            <a:r>
              <a:rPr sz="1200" b="0" i="0">
                <a:solidFill>
                  <a:srgbClr val="9FB3C8"/>
                </a:solidFill>
                <a:latin typeface="Calibri"/>
              </a:rPr>
              <a:t>One-tap sign-out</a:t>
            </a:r>
          </a:p>
        </p:txBody>
      </p:sp>
      <p:sp>
        <p:nvSpPr>
          <p:cNvPr id="9" name="Rectangle 8"/>
          <p:cNvSpPr/>
          <p:nvPr/>
        </p:nvSpPr>
        <p:spPr>
          <a:xfrm>
            <a:off x="4379976" y="2514600"/>
            <a:ext cx="3429000" cy="32004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9976" y="2514600"/>
            <a:ext cx="3429000" cy="8229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2715768"/>
            <a:ext cx="3063240" cy="2834640"/>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GLOBAL LEADERBOARD</a:t>
            </a:r>
          </a:p>
          <a:p>
            <a:pPr algn="l">
              <a:lnSpc>
                <a:spcPct val="105000"/>
              </a:lnSpc>
              <a:spcBef>
                <a:spcPts val="0"/>
              </a:spcBef>
              <a:spcAft>
                <a:spcPts val="500"/>
              </a:spcAft>
            </a:pPr>
            <a:r>
              <a:rPr sz="1200" b="1" i="0">
                <a:solidFill>
                  <a:srgbClr val="2DD4EE"/>
                </a:solidFill>
                <a:latin typeface="Calibri"/>
              </a:rPr>
              <a:t>•  </a:t>
            </a:r>
            <a:r>
              <a:rPr sz="1200" b="0" i="0">
                <a:solidFill>
                  <a:srgbClr val="9FB3C8"/>
                </a:solidFill>
                <a:latin typeface="Calibri"/>
              </a:rPr>
              <a:t>Personal-best scores saved to cloud</a:t>
            </a:r>
          </a:p>
          <a:p>
            <a:pPr algn="l">
              <a:lnSpc>
                <a:spcPct val="105000"/>
              </a:lnSpc>
              <a:spcBef>
                <a:spcPts val="0"/>
              </a:spcBef>
              <a:spcAft>
                <a:spcPts val="500"/>
              </a:spcAft>
            </a:pPr>
            <a:r>
              <a:rPr sz="1200" b="1" i="0">
                <a:solidFill>
                  <a:srgbClr val="2DD4EE"/>
                </a:solidFill>
                <a:latin typeface="Calibri"/>
              </a:rPr>
              <a:t>•  </a:t>
            </a:r>
            <a:r>
              <a:rPr sz="1200" b="0" i="0">
                <a:solidFill>
                  <a:srgbClr val="9FB3C8"/>
                </a:solidFill>
                <a:latin typeface="Calibri"/>
              </a:rPr>
              <a:t>Firebase Realtime Database</a:t>
            </a:r>
          </a:p>
          <a:p>
            <a:pPr algn="l">
              <a:lnSpc>
                <a:spcPct val="105000"/>
              </a:lnSpc>
              <a:spcBef>
                <a:spcPts val="0"/>
              </a:spcBef>
              <a:spcAft>
                <a:spcPts val="500"/>
              </a:spcAft>
            </a:pPr>
            <a:r>
              <a:rPr sz="1200" b="1" i="0">
                <a:solidFill>
                  <a:srgbClr val="2DD4EE"/>
                </a:solidFill>
                <a:latin typeface="Calibri"/>
              </a:rPr>
              <a:t>•  </a:t>
            </a:r>
            <a:r>
              <a:rPr sz="1200" b="0" i="0">
                <a:solidFill>
                  <a:srgbClr val="9FB3C8"/>
                </a:solidFill>
                <a:latin typeface="Calibri"/>
              </a:rPr>
              <a:t>Ranked top-N global standings</a:t>
            </a:r>
          </a:p>
          <a:p>
            <a:pPr algn="l">
              <a:lnSpc>
                <a:spcPct val="105000"/>
              </a:lnSpc>
              <a:spcBef>
                <a:spcPts val="0"/>
              </a:spcBef>
              <a:spcAft>
                <a:spcPts val="500"/>
              </a:spcAft>
            </a:pPr>
            <a:r>
              <a:rPr sz="1200" b="1" i="0">
                <a:solidFill>
                  <a:srgbClr val="2DD4EE"/>
                </a:solidFill>
                <a:latin typeface="Calibri"/>
              </a:rPr>
              <a:t>•  </a:t>
            </a:r>
            <a:r>
              <a:rPr sz="1200" b="0" i="0">
                <a:solidFill>
                  <a:srgbClr val="9FB3C8"/>
                </a:solidFill>
                <a:latin typeface="Calibri"/>
              </a:rPr>
              <a:t>Guests stay private (never written)</a:t>
            </a:r>
          </a:p>
          <a:p>
            <a:pPr algn="l">
              <a:lnSpc>
                <a:spcPct val="105000"/>
              </a:lnSpc>
              <a:spcBef>
                <a:spcPts val="0"/>
              </a:spcBef>
              <a:spcAft>
                <a:spcPts val="500"/>
              </a:spcAft>
            </a:pPr>
            <a:r>
              <a:rPr sz="1200" b="1" i="0">
                <a:solidFill>
                  <a:srgbClr val="2DD4EE"/>
                </a:solidFill>
                <a:latin typeface="Calibri"/>
              </a:rPr>
              <a:t>•  </a:t>
            </a:r>
            <a:r>
              <a:rPr sz="1200" b="0" i="0">
                <a:solidFill>
                  <a:srgbClr val="9FB3C8"/>
                </a:solidFill>
                <a:latin typeface="Calibri"/>
              </a:rPr>
              <a:t>Tracks progress across sessions</a:t>
            </a:r>
          </a:p>
        </p:txBody>
      </p:sp>
      <p:sp>
        <p:nvSpPr>
          <p:cNvPr id="12" name="Rectangle 11"/>
          <p:cNvSpPr/>
          <p:nvPr/>
        </p:nvSpPr>
        <p:spPr>
          <a:xfrm>
            <a:off x="8046720" y="2514600"/>
            <a:ext cx="3429000" cy="32004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514600"/>
            <a:ext cx="3429000"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2715768"/>
            <a:ext cx="3063240" cy="2834640"/>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WHY IT MATTERS</a:t>
            </a:r>
          </a:p>
          <a:p>
            <a:pPr algn="l">
              <a:lnSpc>
                <a:spcPct val="105000"/>
              </a:lnSpc>
              <a:spcBef>
                <a:spcPts val="0"/>
              </a:spcBef>
              <a:spcAft>
                <a:spcPts val="500"/>
              </a:spcAft>
            </a:pPr>
            <a:r>
              <a:rPr sz="1200" b="1" i="0">
                <a:solidFill>
                  <a:srgbClr val="38BDF8"/>
                </a:solidFill>
                <a:latin typeface="Calibri"/>
              </a:rPr>
              <a:t>•  </a:t>
            </a:r>
            <a:r>
              <a:rPr sz="1200" b="0" i="0">
                <a:solidFill>
                  <a:srgbClr val="9FB3C8"/>
                </a:solidFill>
                <a:latin typeface="Calibri"/>
              </a:rPr>
              <a:t>Turns one match into a season</a:t>
            </a:r>
          </a:p>
          <a:p>
            <a:pPr algn="l">
              <a:lnSpc>
                <a:spcPct val="105000"/>
              </a:lnSpc>
              <a:spcBef>
                <a:spcPts val="0"/>
              </a:spcBef>
              <a:spcAft>
                <a:spcPts val="500"/>
              </a:spcAft>
            </a:pPr>
            <a:r>
              <a:rPr sz="1200" b="1" i="0">
                <a:solidFill>
                  <a:srgbClr val="38BDF8"/>
                </a:solidFill>
                <a:latin typeface="Calibri"/>
              </a:rPr>
              <a:t>•  </a:t>
            </a:r>
            <a:r>
              <a:rPr sz="1200" b="0" i="0">
                <a:solidFill>
                  <a:srgbClr val="9FB3C8"/>
                </a:solidFill>
                <a:latin typeface="Calibri"/>
              </a:rPr>
              <a:t>Rewards coming back &amp; improving</a:t>
            </a:r>
          </a:p>
          <a:p>
            <a:pPr algn="l">
              <a:lnSpc>
                <a:spcPct val="105000"/>
              </a:lnSpc>
              <a:spcBef>
                <a:spcPts val="0"/>
              </a:spcBef>
              <a:spcAft>
                <a:spcPts val="500"/>
              </a:spcAft>
            </a:pPr>
            <a:r>
              <a:rPr sz="1200" b="1" i="0">
                <a:solidFill>
                  <a:srgbClr val="38BDF8"/>
                </a:solidFill>
                <a:latin typeface="Calibri"/>
              </a:rPr>
              <a:t>•  </a:t>
            </a:r>
            <a:r>
              <a:rPr sz="1200" b="0" i="0">
                <a:solidFill>
                  <a:srgbClr val="9FB3C8"/>
                </a:solidFill>
                <a:latin typeface="Calibri"/>
              </a:rPr>
              <a:t>Casual OR committed — your choice</a:t>
            </a:r>
          </a:p>
          <a:p>
            <a:pPr algn="l">
              <a:lnSpc>
                <a:spcPct val="105000"/>
              </a:lnSpc>
              <a:spcBef>
                <a:spcPts val="0"/>
              </a:spcBef>
              <a:spcAft>
                <a:spcPts val="500"/>
              </a:spcAft>
            </a:pPr>
            <a:r>
              <a:rPr sz="1200" b="1" i="0">
                <a:solidFill>
                  <a:srgbClr val="38BDF8"/>
                </a:solidFill>
                <a:latin typeface="Calibri"/>
              </a:rPr>
              <a:t>•  </a:t>
            </a:r>
            <a:r>
              <a:rPr sz="1200" b="0" i="0">
                <a:solidFill>
                  <a:srgbClr val="9FB3C8"/>
                </a:solidFill>
                <a:latin typeface="Calibri"/>
              </a:rPr>
              <a:t>Shows real backend engineering</a:t>
            </a:r>
          </a:p>
          <a:p>
            <a:pPr algn="l">
              <a:lnSpc>
                <a:spcPct val="105000"/>
              </a:lnSpc>
              <a:spcBef>
                <a:spcPts val="0"/>
              </a:spcBef>
              <a:spcAft>
                <a:spcPts val="500"/>
              </a:spcAft>
            </a:pPr>
            <a:r>
              <a:rPr sz="1200" b="1" i="0">
                <a:solidFill>
                  <a:srgbClr val="38BDF8"/>
                </a:solidFill>
                <a:latin typeface="Calibri"/>
              </a:rPr>
              <a:t>•  </a:t>
            </a:r>
            <a:r>
              <a:rPr sz="1200" b="0" i="0">
                <a:solidFill>
                  <a:srgbClr val="9FB3C8"/>
                </a:solidFill>
                <a:latin typeface="Calibri"/>
              </a:rPr>
              <a:t>Scales to any number of players</a:t>
            </a:r>
          </a:p>
        </p:txBody>
      </p:sp>
      <p:sp>
        <p:nvSpPr>
          <p:cNvPr id="15" name="TextBox 14"/>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16" name="TextBox 15"/>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ACCOUNTS &amp; LEADERBOARD</a:t>
            </a:r>
          </a:p>
        </p:txBody>
      </p:sp>
      <p:sp>
        <p:nvSpPr>
          <p:cNvPr id="17" name="TextBox 16"/>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08  ·  TECHNOLOGY</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Our Tech Stack</a:t>
            </a:r>
          </a:p>
        </p:txBody>
      </p:sp>
      <p:sp>
        <p:nvSpPr>
          <p:cNvPr id="5" name="Rectangle 4"/>
          <p:cNvSpPr/>
          <p:nvPr/>
        </p:nvSpPr>
        <p:spPr>
          <a:xfrm>
            <a:off x="713232" y="1920240"/>
            <a:ext cx="3493008" cy="141732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920240"/>
            <a:ext cx="82296" cy="141732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176272"/>
            <a:ext cx="3035808" cy="1005840"/>
          </a:xfrm>
          <a:prstGeom prst="rect">
            <a:avLst/>
          </a:prstGeom>
          <a:noFill/>
        </p:spPr>
        <p:txBody>
          <a:bodyPr wrap="square" anchor="t" lIns="0" rIns="0" tIns="0" bIns="0">
            <a:spAutoFit/>
          </a:bodyPr>
          <a:lstStyle/>
          <a:p>
            <a:pPr algn="l">
              <a:lnSpc>
                <a:spcPct val="100000"/>
              </a:lnSpc>
              <a:spcBef>
                <a:spcPts val="0"/>
              </a:spcBef>
              <a:spcAft>
                <a:spcPts val="600"/>
              </a:spcAft>
            </a:pPr>
            <a:r>
              <a:rPr sz="1800" b="1" i="0">
                <a:solidFill>
                  <a:srgbClr val="FFFFFF"/>
                </a:solidFill>
                <a:latin typeface="Calibri"/>
              </a:rPr>
              <a:t>UNITY 2022.3.22f1</a:t>
            </a:r>
          </a:p>
          <a:p>
            <a:pPr algn="l">
              <a:lnSpc>
                <a:spcPct val="100000"/>
              </a:lnSpc>
              <a:spcBef>
                <a:spcPts val="0"/>
              </a:spcBef>
              <a:spcAft>
                <a:spcPts val="600"/>
              </a:spcAft>
            </a:pPr>
            <a:r>
              <a:rPr sz="1200" b="0" i="0">
                <a:solidFill>
                  <a:srgbClr val="9FB3C8"/>
                </a:solidFill>
                <a:latin typeface="Calibri"/>
              </a:rPr>
              <a:t>3D game engine &amp; editor</a:t>
            </a:r>
          </a:p>
        </p:txBody>
      </p:sp>
      <p:sp>
        <p:nvSpPr>
          <p:cNvPr id="8" name="Rectangle 7"/>
          <p:cNvSpPr/>
          <p:nvPr/>
        </p:nvSpPr>
        <p:spPr>
          <a:xfrm>
            <a:off x="4352544" y="1920240"/>
            <a:ext cx="3493008" cy="141732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52544" y="1920240"/>
            <a:ext cx="82296" cy="14173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176272"/>
            <a:ext cx="3035808" cy="1005840"/>
          </a:xfrm>
          <a:prstGeom prst="rect">
            <a:avLst/>
          </a:prstGeom>
          <a:noFill/>
        </p:spPr>
        <p:txBody>
          <a:bodyPr wrap="square" anchor="t" lIns="0" rIns="0" tIns="0" bIns="0">
            <a:spAutoFit/>
          </a:bodyPr>
          <a:lstStyle/>
          <a:p>
            <a:pPr algn="l">
              <a:lnSpc>
                <a:spcPct val="100000"/>
              </a:lnSpc>
              <a:spcBef>
                <a:spcPts val="0"/>
              </a:spcBef>
              <a:spcAft>
                <a:spcPts val="600"/>
              </a:spcAft>
            </a:pPr>
            <a:r>
              <a:rPr sz="1800" b="1" i="0">
                <a:solidFill>
                  <a:srgbClr val="FFFFFF"/>
                </a:solidFill>
                <a:latin typeface="Calibri"/>
              </a:rPr>
              <a:t>C#</a:t>
            </a:r>
          </a:p>
          <a:p>
            <a:pPr algn="l">
              <a:lnSpc>
                <a:spcPct val="100000"/>
              </a:lnSpc>
              <a:spcBef>
                <a:spcPts val="0"/>
              </a:spcBef>
              <a:spcAft>
                <a:spcPts val="600"/>
              </a:spcAft>
            </a:pPr>
            <a:r>
              <a:rPr sz="1200" b="0" i="0">
                <a:solidFill>
                  <a:srgbClr val="9FB3C8"/>
                </a:solidFill>
                <a:latin typeface="Calibri"/>
              </a:rPr>
              <a:t>All gameplay &amp; systems code</a:t>
            </a:r>
          </a:p>
        </p:txBody>
      </p:sp>
      <p:sp>
        <p:nvSpPr>
          <p:cNvPr id="11" name="Rectangle 10"/>
          <p:cNvSpPr/>
          <p:nvPr/>
        </p:nvSpPr>
        <p:spPr>
          <a:xfrm>
            <a:off x="7991856" y="1920240"/>
            <a:ext cx="3493008" cy="141732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91856" y="1920240"/>
            <a:ext cx="82296" cy="1417320"/>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6" y="2176272"/>
            <a:ext cx="3035808" cy="1005840"/>
          </a:xfrm>
          <a:prstGeom prst="rect">
            <a:avLst/>
          </a:prstGeom>
          <a:noFill/>
        </p:spPr>
        <p:txBody>
          <a:bodyPr wrap="square" anchor="t" lIns="0" rIns="0" tIns="0" bIns="0">
            <a:spAutoFit/>
          </a:bodyPr>
          <a:lstStyle/>
          <a:p>
            <a:pPr algn="l">
              <a:lnSpc>
                <a:spcPct val="100000"/>
              </a:lnSpc>
              <a:spcBef>
                <a:spcPts val="0"/>
              </a:spcBef>
              <a:spcAft>
                <a:spcPts val="600"/>
              </a:spcAft>
            </a:pPr>
            <a:r>
              <a:rPr sz="1800" b="1" i="0">
                <a:solidFill>
                  <a:srgbClr val="FFFFFF"/>
                </a:solidFill>
                <a:latin typeface="Calibri"/>
              </a:rPr>
              <a:t>PHOTON PUN 2</a:t>
            </a:r>
          </a:p>
          <a:p>
            <a:pPr algn="l">
              <a:lnSpc>
                <a:spcPct val="100000"/>
              </a:lnSpc>
              <a:spcBef>
                <a:spcPts val="0"/>
              </a:spcBef>
              <a:spcAft>
                <a:spcPts val="600"/>
              </a:spcAft>
            </a:pPr>
            <a:r>
              <a:rPr sz="1200" b="0" i="0">
                <a:solidFill>
                  <a:srgbClr val="9FB3C8"/>
                </a:solidFill>
                <a:latin typeface="Calibri"/>
              </a:rPr>
              <a:t>Real-time multiplayer networking</a:t>
            </a:r>
          </a:p>
        </p:txBody>
      </p:sp>
      <p:sp>
        <p:nvSpPr>
          <p:cNvPr id="14" name="Rectangle 13"/>
          <p:cNvSpPr/>
          <p:nvPr/>
        </p:nvSpPr>
        <p:spPr>
          <a:xfrm>
            <a:off x="713232" y="3520440"/>
            <a:ext cx="3493008" cy="141732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520440"/>
            <a:ext cx="82296" cy="14173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776472"/>
            <a:ext cx="3035808" cy="1005840"/>
          </a:xfrm>
          <a:prstGeom prst="rect">
            <a:avLst/>
          </a:prstGeom>
          <a:noFill/>
        </p:spPr>
        <p:txBody>
          <a:bodyPr wrap="square" anchor="t" lIns="0" rIns="0" tIns="0" bIns="0">
            <a:spAutoFit/>
          </a:bodyPr>
          <a:lstStyle/>
          <a:p>
            <a:pPr algn="l">
              <a:lnSpc>
                <a:spcPct val="100000"/>
              </a:lnSpc>
              <a:spcBef>
                <a:spcPts val="0"/>
              </a:spcBef>
              <a:spcAft>
                <a:spcPts val="600"/>
              </a:spcAft>
            </a:pPr>
            <a:r>
              <a:rPr sz="1800" b="1" i="0">
                <a:solidFill>
                  <a:srgbClr val="FFFFFF"/>
                </a:solidFill>
                <a:latin typeface="Calibri"/>
              </a:rPr>
              <a:t>FIREBASE</a:t>
            </a:r>
          </a:p>
          <a:p>
            <a:pPr algn="l">
              <a:lnSpc>
                <a:spcPct val="100000"/>
              </a:lnSpc>
              <a:spcBef>
                <a:spcPts val="0"/>
              </a:spcBef>
              <a:spcAft>
                <a:spcPts val="600"/>
              </a:spcAft>
            </a:pPr>
            <a:r>
              <a:rPr sz="1200" b="0" i="0">
                <a:solidFill>
                  <a:srgbClr val="9FB3C8"/>
                </a:solidFill>
                <a:latin typeface="Calibri"/>
              </a:rPr>
              <a:t>Cloud auth &amp; leaderboard database</a:t>
            </a:r>
          </a:p>
        </p:txBody>
      </p:sp>
      <p:sp>
        <p:nvSpPr>
          <p:cNvPr id="17" name="Rectangle 16"/>
          <p:cNvSpPr/>
          <p:nvPr/>
        </p:nvSpPr>
        <p:spPr>
          <a:xfrm>
            <a:off x="4352544" y="3520440"/>
            <a:ext cx="3493008" cy="141732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52544" y="3520440"/>
            <a:ext cx="82296" cy="141732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6864" y="3776472"/>
            <a:ext cx="3035808" cy="1005840"/>
          </a:xfrm>
          <a:prstGeom prst="rect">
            <a:avLst/>
          </a:prstGeom>
          <a:noFill/>
        </p:spPr>
        <p:txBody>
          <a:bodyPr wrap="square" anchor="t" lIns="0" rIns="0" tIns="0" bIns="0">
            <a:spAutoFit/>
          </a:bodyPr>
          <a:lstStyle/>
          <a:p>
            <a:pPr algn="l">
              <a:lnSpc>
                <a:spcPct val="100000"/>
              </a:lnSpc>
              <a:spcBef>
                <a:spcPts val="0"/>
              </a:spcBef>
              <a:spcAft>
                <a:spcPts val="600"/>
              </a:spcAft>
            </a:pPr>
            <a:r>
              <a:rPr sz="1800" b="1" i="0">
                <a:solidFill>
                  <a:srgbClr val="FFFFFF"/>
                </a:solidFill>
                <a:latin typeface="Calibri"/>
              </a:rPr>
              <a:t>TEXTMESH PRO</a:t>
            </a:r>
          </a:p>
          <a:p>
            <a:pPr algn="l">
              <a:lnSpc>
                <a:spcPct val="100000"/>
              </a:lnSpc>
              <a:spcBef>
                <a:spcPts val="0"/>
              </a:spcBef>
              <a:spcAft>
                <a:spcPts val="600"/>
              </a:spcAft>
            </a:pPr>
            <a:r>
              <a:rPr sz="1200" b="0" i="0">
                <a:solidFill>
                  <a:srgbClr val="9FB3C8"/>
                </a:solidFill>
                <a:latin typeface="Calibri"/>
              </a:rPr>
              <a:t>Crisp in-game UI &amp; text</a:t>
            </a:r>
          </a:p>
        </p:txBody>
      </p:sp>
      <p:sp>
        <p:nvSpPr>
          <p:cNvPr id="20" name="Rectangle 19"/>
          <p:cNvSpPr/>
          <p:nvPr/>
        </p:nvSpPr>
        <p:spPr>
          <a:xfrm>
            <a:off x="7991856" y="3520440"/>
            <a:ext cx="3493008" cy="141732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91856" y="3520440"/>
            <a:ext cx="82296" cy="141732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6" y="3776472"/>
            <a:ext cx="3035808" cy="1005840"/>
          </a:xfrm>
          <a:prstGeom prst="rect">
            <a:avLst/>
          </a:prstGeom>
          <a:noFill/>
        </p:spPr>
        <p:txBody>
          <a:bodyPr wrap="square" anchor="t" lIns="0" rIns="0" tIns="0" bIns="0">
            <a:spAutoFit/>
          </a:bodyPr>
          <a:lstStyle/>
          <a:p>
            <a:pPr algn="l">
              <a:lnSpc>
                <a:spcPct val="100000"/>
              </a:lnSpc>
              <a:spcBef>
                <a:spcPts val="0"/>
              </a:spcBef>
              <a:spcAft>
                <a:spcPts val="600"/>
              </a:spcAft>
            </a:pPr>
            <a:r>
              <a:rPr sz="1800" b="1" i="0">
                <a:solidFill>
                  <a:srgbClr val="FFFFFF"/>
                </a:solidFill>
                <a:latin typeface="Calibri"/>
              </a:rPr>
              <a:t>GIT + GITHUB</a:t>
            </a:r>
          </a:p>
          <a:p>
            <a:pPr algn="l">
              <a:lnSpc>
                <a:spcPct val="100000"/>
              </a:lnSpc>
              <a:spcBef>
                <a:spcPts val="0"/>
              </a:spcBef>
              <a:spcAft>
                <a:spcPts val="600"/>
              </a:spcAft>
            </a:pPr>
            <a:r>
              <a:rPr sz="1200" b="0" i="0">
                <a:solidFill>
                  <a:srgbClr val="9FB3C8"/>
                </a:solidFill>
                <a:latin typeface="Calibri"/>
              </a:rPr>
              <a:t>Version control &amp; team collaboration</a:t>
            </a:r>
          </a:p>
        </p:txBody>
      </p:sp>
      <p:sp>
        <p:nvSpPr>
          <p:cNvPr id="23" name="Rectangle 22"/>
          <p:cNvSpPr/>
          <p:nvPr/>
        </p:nvSpPr>
        <p:spPr>
          <a:xfrm>
            <a:off x="713232" y="5166360"/>
            <a:ext cx="10762488" cy="566928"/>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166360"/>
            <a:ext cx="10332720" cy="566928"/>
          </a:xfrm>
          <a:prstGeom prst="rect">
            <a:avLst/>
          </a:prstGeom>
          <a:noFill/>
        </p:spPr>
        <p:txBody>
          <a:bodyPr wrap="square" anchor="ctr" lIns="0" rIns="0" tIns="0" bIns="0">
            <a:spAutoFit/>
          </a:bodyPr>
          <a:lstStyle/>
          <a:p>
            <a:pPr algn="l">
              <a:lnSpc>
                <a:spcPct val="105000"/>
              </a:lnSpc>
              <a:spcBef>
                <a:spcPts val="0"/>
              </a:spcBef>
              <a:spcAft>
                <a:spcPts val="600"/>
              </a:spcAft>
            </a:pPr>
            <a:r>
              <a:rPr sz="1200" b="1" i="0">
                <a:solidFill>
                  <a:srgbClr val="2DD4EE"/>
                </a:solidFill>
                <a:latin typeface="Calibri"/>
              </a:rPr>
              <a:t>Architecture note:  </a:t>
            </a:r>
            <a:r>
              <a:rPr sz="1200" b="0" i="0">
                <a:solidFill>
                  <a:srgbClr val="9FB3C8"/>
                </a:solidFill>
                <a:latin typeface="Calibri"/>
              </a:rPr>
              <a:t>systems are decoupled — the scoring core has no idea whether it's talking to Photon or Firebase, so we can extend or swap pieces without breaking gameplay.</a:t>
            </a:r>
          </a:p>
        </p:txBody>
      </p:sp>
      <p:sp>
        <p:nvSpPr>
          <p:cNvPr id="25" name="TextBox 24"/>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26" name="TextBox 25"/>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TECHNOLOGY</a:t>
            </a:r>
          </a:p>
        </p:txBody>
      </p:sp>
      <p:sp>
        <p:nvSpPr>
          <p:cNvPr id="27" name="TextBox 26"/>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08  ·  PROCESS</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How We Built It</a:t>
            </a:r>
          </a:p>
        </p:txBody>
      </p:sp>
      <p:sp>
        <p:nvSpPr>
          <p:cNvPr id="5" name="Rectangle 4"/>
          <p:cNvSpPr/>
          <p:nvPr/>
        </p:nvSpPr>
        <p:spPr>
          <a:xfrm>
            <a:off x="713232" y="1828800"/>
            <a:ext cx="3429000" cy="1874519"/>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828800"/>
            <a:ext cx="3429000" cy="8229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29968"/>
            <a:ext cx="3063240" cy="1508759"/>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JACKSON KRIZAN</a:t>
            </a:r>
          </a:p>
          <a:p>
            <a:pPr algn="l">
              <a:lnSpc>
                <a:spcPct val="105000"/>
              </a:lnSpc>
              <a:spcBef>
                <a:spcPts val="0"/>
              </a:spcBef>
              <a:spcAft>
                <a:spcPts val="500"/>
              </a:spcAft>
            </a:pPr>
            <a:r>
              <a:rPr sz="1200" b="1" i="0">
                <a:solidFill>
                  <a:srgbClr val="2DD4EE"/>
                </a:solidFill>
                <a:latin typeface="Calibri"/>
              </a:rPr>
              <a:t>•  </a:t>
            </a:r>
            <a:r>
              <a:rPr sz="1200" b="0" i="0">
                <a:solidFill>
                  <a:srgbClr val="9FB3C8"/>
                </a:solidFill>
                <a:latin typeface="Calibri"/>
              </a:rPr>
              <a:t>Networking mini-game</a:t>
            </a:r>
          </a:p>
          <a:p>
            <a:pPr algn="l">
              <a:lnSpc>
                <a:spcPct val="105000"/>
              </a:lnSpc>
              <a:spcBef>
                <a:spcPts val="0"/>
              </a:spcBef>
              <a:spcAft>
                <a:spcPts val="500"/>
              </a:spcAft>
            </a:pPr>
            <a:r>
              <a:rPr sz="1200" b="1" i="0">
                <a:solidFill>
                  <a:srgbClr val="2DD4EE"/>
                </a:solidFill>
                <a:latin typeface="Calibri"/>
              </a:rPr>
              <a:t>•  </a:t>
            </a:r>
            <a:r>
              <a:rPr sz="1200" b="0" i="0">
                <a:solidFill>
                  <a:srgbClr val="9FB3C8"/>
                </a:solidFill>
                <a:latin typeface="Calibri"/>
              </a:rPr>
              <a:t>Scoring &amp; multiplayer sync</a:t>
            </a:r>
          </a:p>
          <a:p>
            <a:pPr algn="l">
              <a:lnSpc>
                <a:spcPct val="105000"/>
              </a:lnSpc>
              <a:spcBef>
                <a:spcPts val="0"/>
              </a:spcBef>
              <a:spcAft>
                <a:spcPts val="500"/>
              </a:spcAft>
            </a:pPr>
            <a:r>
              <a:rPr sz="1200" b="1" i="0">
                <a:solidFill>
                  <a:srgbClr val="2DD4EE"/>
                </a:solidFill>
                <a:latin typeface="Calibri"/>
              </a:rPr>
              <a:t>•  </a:t>
            </a:r>
            <a:r>
              <a:rPr sz="1200" b="0" i="0">
                <a:solidFill>
                  <a:srgbClr val="9FB3C8"/>
                </a:solidFill>
                <a:latin typeface="Calibri"/>
              </a:rPr>
              <a:t>Firebase accounts &amp; leaderboard</a:t>
            </a:r>
          </a:p>
        </p:txBody>
      </p:sp>
      <p:sp>
        <p:nvSpPr>
          <p:cNvPr id="8" name="Rectangle 7"/>
          <p:cNvSpPr/>
          <p:nvPr/>
        </p:nvSpPr>
        <p:spPr>
          <a:xfrm>
            <a:off x="4379976" y="1828800"/>
            <a:ext cx="3429000" cy="1874519"/>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9976" y="1828800"/>
            <a:ext cx="3429000" cy="82296"/>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2029968"/>
            <a:ext cx="3063240" cy="1508759"/>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BLAYNE CAMPBELL</a:t>
            </a:r>
          </a:p>
          <a:p>
            <a:pPr algn="l">
              <a:lnSpc>
                <a:spcPct val="105000"/>
              </a:lnSpc>
              <a:spcBef>
                <a:spcPts val="0"/>
              </a:spcBef>
              <a:spcAft>
                <a:spcPts val="500"/>
              </a:spcAft>
            </a:pPr>
            <a:r>
              <a:rPr sz="1200" b="1" i="0">
                <a:solidFill>
                  <a:srgbClr val="F5C242"/>
                </a:solidFill>
                <a:latin typeface="Calibri"/>
              </a:rPr>
              <a:t>•  </a:t>
            </a:r>
            <a:r>
              <a:rPr sz="1200" b="0" i="0">
                <a:solidFill>
                  <a:srgbClr val="9FB3C8"/>
                </a:solidFill>
                <a:latin typeface="Calibri"/>
              </a:rPr>
              <a:t>Game design &amp; concept</a:t>
            </a:r>
          </a:p>
          <a:p>
            <a:pPr algn="l">
              <a:lnSpc>
                <a:spcPct val="105000"/>
              </a:lnSpc>
              <a:spcBef>
                <a:spcPts val="0"/>
              </a:spcBef>
              <a:spcAft>
                <a:spcPts val="500"/>
              </a:spcAft>
            </a:pPr>
            <a:r>
              <a:rPr sz="1200" b="1" i="0">
                <a:solidFill>
                  <a:srgbClr val="F5C242"/>
                </a:solidFill>
                <a:latin typeface="Calibri"/>
              </a:rPr>
              <a:t>•  </a:t>
            </a:r>
            <a:r>
              <a:rPr sz="1200" b="0" i="0">
                <a:solidFill>
                  <a:srgbClr val="9FB3C8"/>
                </a:solidFill>
                <a:latin typeface="Calibri"/>
              </a:rPr>
              <a:t>Job themes &amp; content</a:t>
            </a:r>
          </a:p>
          <a:p>
            <a:pPr algn="l">
              <a:lnSpc>
                <a:spcPct val="105000"/>
              </a:lnSpc>
              <a:spcBef>
                <a:spcPts val="0"/>
              </a:spcBef>
              <a:spcAft>
                <a:spcPts val="500"/>
              </a:spcAft>
            </a:pPr>
            <a:r>
              <a:rPr sz="1200" b="1" i="0">
                <a:solidFill>
                  <a:srgbClr val="F5C242"/>
                </a:solidFill>
                <a:latin typeface="Calibri"/>
              </a:rPr>
              <a:t>•  </a:t>
            </a:r>
            <a:r>
              <a:rPr sz="1200" b="0" i="0">
                <a:solidFill>
                  <a:srgbClr val="9FB3C8"/>
                </a:solidFill>
                <a:latin typeface="Calibri"/>
              </a:rPr>
              <a:t>Playtesting &amp; feedback</a:t>
            </a:r>
          </a:p>
        </p:txBody>
      </p:sp>
      <p:sp>
        <p:nvSpPr>
          <p:cNvPr id="11" name="Rectangle 10"/>
          <p:cNvSpPr/>
          <p:nvPr/>
        </p:nvSpPr>
        <p:spPr>
          <a:xfrm>
            <a:off x="8046720" y="1828800"/>
            <a:ext cx="3429000" cy="1874519"/>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828800"/>
            <a:ext cx="3429000" cy="8229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2029968"/>
            <a:ext cx="3063240" cy="1508759"/>
          </a:xfrm>
          <a:prstGeom prst="rect">
            <a:avLst/>
          </a:prstGeom>
          <a:noFill/>
        </p:spPr>
        <p:txBody>
          <a:bodyPr wrap="square" anchor="t" lIns="0" rIns="0" tIns="0" bIns="0">
            <a:spAutoFit/>
          </a:bodyPr>
          <a:lstStyle/>
          <a:p>
            <a:pPr algn="l">
              <a:lnSpc>
                <a:spcPct val="105000"/>
              </a:lnSpc>
              <a:spcBef>
                <a:spcPts val="0"/>
              </a:spcBef>
              <a:spcAft>
                <a:spcPts val="500"/>
              </a:spcAft>
            </a:pPr>
            <a:r>
              <a:rPr sz="1500" b="1" i="0">
                <a:solidFill>
                  <a:srgbClr val="FFFFFF"/>
                </a:solidFill>
                <a:latin typeface="Calibri"/>
              </a:rPr>
              <a:t>JAKOB ESCUETA</a:t>
            </a:r>
          </a:p>
          <a:p>
            <a:pPr algn="l">
              <a:lnSpc>
                <a:spcPct val="105000"/>
              </a:lnSpc>
              <a:spcBef>
                <a:spcPts val="0"/>
              </a:spcBef>
              <a:spcAft>
                <a:spcPts val="500"/>
              </a:spcAft>
            </a:pPr>
            <a:r>
              <a:rPr sz="1200" b="1" i="0">
                <a:solidFill>
                  <a:srgbClr val="34D399"/>
                </a:solidFill>
                <a:latin typeface="Calibri"/>
              </a:rPr>
              <a:t>•  </a:t>
            </a:r>
            <a:r>
              <a:rPr sz="1200" b="0" i="0">
                <a:solidFill>
                  <a:srgbClr val="9FB3C8"/>
                </a:solidFill>
                <a:latin typeface="Calibri"/>
              </a:rPr>
              <a:t>Programming support</a:t>
            </a:r>
          </a:p>
          <a:p>
            <a:pPr algn="l">
              <a:lnSpc>
                <a:spcPct val="105000"/>
              </a:lnSpc>
              <a:spcBef>
                <a:spcPts val="0"/>
              </a:spcBef>
              <a:spcAft>
                <a:spcPts val="500"/>
              </a:spcAft>
            </a:pPr>
            <a:r>
              <a:rPr sz="1200" b="1" i="0">
                <a:solidFill>
                  <a:srgbClr val="34D399"/>
                </a:solidFill>
                <a:latin typeface="Calibri"/>
              </a:rPr>
              <a:t>•  </a:t>
            </a:r>
            <a:r>
              <a:rPr sz="1200" b="0" i="0">
                <a:solidFill>
                  <a:srgbClr val="9FB3C8"/>
                </a:solidFill>
                <a:latin typeface="Calibri"/>
              </a:rPr>
              <a:t>User interface &amp; menus</a:t>
            </a:r>
          </a:p>
          <a:p>
            <a:pPr algn="l">
              <a:lnSpc>
                <a:spcPct val="105000"/>
              </a:lnSpc>
              <a:spcBef>
                <a:spcPts val="0"/>
              </a:spcBef>
              <a:spcAft>
                <a:spcPts val="500"/>
              </a:spcAft>
            </a:pPr>
            <a:r>
              <a:rPr sz="1200" b="1" i="0">
                <a:solidFill>
                  <a:srgbClr val="34D399"/>
                </a:solidFill>
                <a:latin typeface="Calibri"/>
              </a:rPr>
              <a:t>•  </a:t>
            </a:r>
            <a:r>
              <a:rPr sz="1200" b="0" i="0">
                <a:solidFill>
                  <a:srgbClr val="9FB3C8"/>
                </a:solidFill>
                <a:latin typeface="Calibri"/>
              </a:rPr>
              <a:t>Assets &amp; integration</a:t>
            </a:r>
          </a:p>
        </p:txBody>
      </p:sp>
      <p:sp>
        <p:nvSpPr>
          <p:cNvPr id="14" name="Rectangle 13"/>
          <p:cNvSpPr/>
          <p:nvPr/>
        </p:nvSpPr>
        <p:spPr>
          <a:xfrm>
            <a:off x="713232" y="4023360"/>
            <a:ext cx="10762488" cy="169164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4023360"/>
            <a:ext cx="82296" cy="169164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06240"/>
            <a:ext cx="10241280" cy="1417320"/>
          </a:xfrm>
          <a:prstGeom prst="rect">
            <a:avLst/>
          </a:prstGeom>
          <a:noFill/>
        </p:spPr>
        <p:txBody>
          <a:bodyPr wrap="square" anchor="t" lIns="0" rIns="0" tIns="0" bIns="0">
            <a:spAutoFit/>
          </a:bodyPr>
          <a:lstStyle/>
          <a:p>
            <a:pPr algn="l">
              <a:lnSpc>
                <a:spcPct val="112000"/>
              </a:lnSpc>
              <a:spcBef>
                <a:spcPts val="0"/>
              </a:spcBef>
              <a:spcAft>
                <a:spcPts val="800"/>
              </a:spcAft>
            </a:pPr>
            <a:r>
              <a:rPr sz="1400" b="1" i="0">
                <a:solidFill>
                  <a:srgbClr val="38BDF8"/>
                </a:solidFill>
                <a:latin typeface="Calibri"/>
              </a:rPr>
              <a:t>Our workflow</a:t>
            </a:r>
          </a:p>
          <a:p>
            <a:pPr algn="l">
              <a:lnSpc>
                <a:spcPct val="112000"/>
              </a:lnSpc>
              <a:spcBef>
                <a:spcPts val="0"/>
              </a:spcBef>
              <a:spcAft>
                <a:spcPts val="800"/>
              </a:spcAft>
            </a:pPr>
            <a:r>
              <a:rPr sz="1400" b="0" i="0">
                <a:solidFill>
                  <a:srgbClr val="F1F5F9"/>
                </a:solidFill>
                <a:latin typeface="Calibri"/>
              </a:rPr>
              <a:t>We work in GitHub branches and pull requests — each feature is built in isolation, reviewed, then merged. Tickets track every task. Unity lets us iterate on gameplay fast, while clean code organization (separate folders per job, shared core systems) keeps a four-job game manageable for a three-person team.</a:t>
            </a:r>
          </a:p>
        </p:txBody>
      </p:sp>
      <p:sp>
        <p:nvSpPr>
          <p:cNvPr id="17" name="TextBox 16"/>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18" name="TextBox 17"/>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PROCESS</a:t>
            </a:r>
          </a:p>
        </p:txBody>
      </p:sp>
      <p:sp>
        <p:nvSpPr>
          <p:cNvPr id="19" name="TextBox 18"/>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DD4EE"/>
                </a:solidFill>
                <a:latin typeface="Calibri"/>
              </a:rPr>
              <a:t>09  ·  GROWTH</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What's New Since State</a:t>
            </a:r>
          </a:p>
        </p:txBody>
      </p:sp>
      <p:sp>
        <p:nvSpPr>
          <p:cNvPr id="5" name="TextBox 4"/>
          <p:cNvSpPr txBox="1"/>
          <p:nvPr/>
        </p:nvSpPr>
        <p:spPr>
          <a:xfrm>
            <a:off x="713232" y="1691640"/>
            <a:ext cx="10607040" cy="457200"/>
          </a:xfrm>
          <a:prstGeom prst="rect">
            <a:avLst/>
          </a:prstGeom>
          <a:noFill/>
        </p:spPr>
        <p:txBody>
          <a:bodyPr wrap="square" anchor="t" lIns="0" rIns="0" tIns="0" bIns="0">
            <a:spAutoFit/>
          </a:bodyPr>
          <a:lstStyle/>
          <a:p>
            <a:pPr algn="l">
              <a:lnSpc>
                <a:spcPct val="105000"/>
              </a:lnSpc>
              <a:spcBef>
                <a:spcPts val="0"/>
              </a:spcBef>
              <a:spcAft>
                <a:spcPts val="600"/>
              </a:spcAft>
            </a:pPr>
            <a:r>
              <a:rPr sz="1500" b="0" i="1">
                <a:solidFill>
                  <a:srgbClr val="F1F5F9"/>
                </a:solidFill>
                <a:latin typeface="Calibri"/>
              </a:rPr>
              <a:t>We didn't just polish — we added entire systems that take Clock-In from a demo to a real, replayable game.</a:t>
            </a:r>
          </a:p>
        </p:txBody>
      </p:sp>
      <p:sp>
        <p:nvSpPr>
          <p:cNvPr id="6" name="Rectangle 5"/>
          <p:cNvSpPr/>
          <p:nvPr/>
        </p:nvSpPr>
        <p:spPr>
          <a:xfrm>
            <a:off x="713232" y="2331720"/>
            <a:ext cx="3493008" cy="13716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331720"/>
            <a:ext cx="3493008" cy="8229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560320"/>
            <a:ext cx="3081528" cy="1005840"/>
          </a:xfrm>
          <a:prstGeom prst="rect">
            <a:avLst/>
          </a:prstGeom>
          <a:noFill/>
        </p:spPr>
        <p:txBody>
          <a:bodyPr wrap="square" anchor="t" lIns="0" rIns="0" tIns="0" bIns="0">
            <a:spAutoFit/>
          </a:bodyPr>
          <a:lstStyle/>
          <a:p>
            <a:pPr algn="l">
              <a:lnSpc>
                <a:spcPct val="105000"/>
              </a:lnSpc>
              <a:spcBef>
                <a:spcPts val="0"/>
              </a:spcBef>
              <a:spcAft>
                <a:spcPts val="500"/>
              </a:spcAft>
            </a:pPr>
            <a:r>
              <a:rPr sz="1400" b="1" i="0">
                <a:solidFill>
                  <a:srgbClr val="34D399"/>
                </a:solidFill>
                <a:latin typeface="Calibri"/>
              </a:rPr>
              <a:t>✦ </a:t>
            </a:r>
            <a:r>
              <a:rPr sz="1500" b="1" i="0">
                <a:solidFill>
                  <a:srgbClr val="FFFFFF"/>
                </a:solidFill>
                <a:latin typeface="Calibri"/>
              </a:rPr>
              <a:t>CLOUD ACCOUNTS</a:t>
            </a:r>
          </a:p>
          <a:p>
            <a:pPr algn="l">
              <a:lnSpc>
                <a:spcPct val="105000"/>
              </a:lnSpc>
              <a:spcBef>
                <a:spcPts val="0"/>
              </a:spcBef>
              <a:spcAft>
                <a:spcPts val="500"/>
              </a:spcAft>
            </a:pPr>
            <a:r>
              <a:rPr sz="1200" b="0" i="0">
                <a:solidFill>
                  <a:srgbClr val="9FB3C8"/>
                </a:solidFill>
                <a:latin typeface="Calibri"/>
              </a:rPr>
              <a:t>Brand-new Firebase sign-up / sign-in with guest mode</a:t>
            </a:r>
          </a:p>
        </p:txBody>
      </p:sp>
      <p:sp>
        <p:nvSpPr>
          <p:cNvPr id="9" name="Rectangle 8"/>
          <p:cNvSpPr/>
          <p:nvPr/>
        </p:nvSpPr>
        <p:spPr>
          <a:xfrm>
            <a:off x="4352544" y="2331720"/>
            <a:ext cx="3493008" cy="13716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331720"/>
            <a:ext cx="3493008" cy="8229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2560320"/>
            <a:ext cx="3081528" cy="1005840"/>
          </a:xfrm>
          <a:prstGeom prst="rect">
            <a:avLst/>
          </a:prstGeom>
          <a:noFill/>
        </p:spPr>
        <p:txBody>
          <a:bodyPr wrap="square" anchor="t" lIns="0" rIns="0" tIns="0" bIns="0">
            <a:spAutoFit/>
          </a:bodyPr>
          <a:lstStyle/>
          <a:p>
            <a:pPr algn="l">
              <a:lnSpc>
                <a:spcPct val="105000"/>
              </a:lnSpc>
              <a:spcBef>
                <a:spcPts val="0"/>
              </a:spcBef>
              <a:spcAft>
                <a:spcPts val="500"/>
              </a:spcAft>
            </a:pPr>
            <a:r>
              <a:rPr sz="1400" b="1" i="0">
                <a:solidFill>
                  <a:srgbClr val="2DD4EE"/>
                </a:solidFill>
                <a:latin typeface="Calibri"/>
              </a:rPr>
              <a:t>✦ </a:t>
            </a:r>
            <a:r>
              <a:rPr sz="1500" b="1" i="0">
                <a:solidFill>
                  <a:srgbClr val="FFFFFF"/>
                </a:solidFill>
                <a:latin typeface="Calibri"/>
              </a:rPr>
              <a:t>GLOBAL LEADERBOARD</a:t>
            </a:r>
          </a:p>
          <a:p>
            <a:pPr algn="l">
              <a:lnSpc>
                <a:spcPct val="105000"/>
              </a:lnSpc>
              <a:spcBef>
                <a:spcPts val="0"/>
              </a:spcBef>
              <a:spcAft>
                <a:spcPts val="500"/>
              </a:spcAft>
            </a:pPr>
            <a:r>
              <a:rPr sz="1200" b="0" i="0">
                <a:solidFill>
                  <a:srgbClr val="9FB3C8"/>
                </a:solidFill>
                <a:latin typeface="Calibri"/>
              </a:rPr>
              <a:t>Persistent personal bests ranked across all players</a:t>
            </a:r>
          </a:p>
        </p:txBody>
      </p:sp>
      <p:sp>
        <p:nvSpPr>
          <p:cNvPr id="12" name="Rectangle 11"/>
          <p:cNvSpPr/>
          <p:nvPr/>
        </p:nvSpPr>
        <p:spPr>
          <a:xfrm>
            <a:off x="7991856" y="2331720"/>
            <a:ext cx="3493008" cy="13716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91856" y="2331720"/>
            <a:ext cx="3493008"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456" y="2560320"/>
            <a:ext cx="3081528" cy="1005840"/>
          </a:xfrm>
          <a:prstGeom prst="rect">
            <a:avLst/>
          </a:prstGeom>
          <a:noFill/>
        </p:spPr>
        <p:txBody>
          <a:bodyPr wrap="square" anchor="t" lIns="0" rIns="0" tIns="0" bIns="0">
            <a:spAutoFit/>
          </a:bodyPr>
          <a:lstStyle/>
          <a:p>
            <a:pPr algn="l">
              <a:lnSpc>
                <a:spcPct val="105000"/>
              </a:lnSpc>
              <a:spcBef>
                <a:spcPts val="0"/>
              </a:spcBef>
              <a:spcAft>
                <a:spcPts val="500"/>
              </a:spcAft>
            </a:pPr>
            <a:r>
              <a:rPr sz="1400" b="1" i="0">
                <a:solidFill>
                  <a:srgbClr val="38BDF8"/>
                </a:solidFill>
                <a:latin typeface="Calibri"/>
              </a:rPr>
              <a:t>✦ </a:t>
            </a:r>
            <a:r>
              <a:rPr sz="1500" b="1" i="0">
                <a:solidFill>
                  <a:srgbClr val="FFFFFF"/>
                </a:solidFill>
                <a:latin typeface="Calibri"/>
              </a:rPr>
              <a:t>LIVE MULTIPLAYER SCORING</a:t>
            </a:r>
          </a:p>
          <a:p>
            <a:pPr algn="l">
              <a:lnSpc>
                <a:spcPct val="105000"/>
              </a:lnSpc>
              <a:spcBef>
                <a:spcPts val="0"/>
              </a:spcBef>
              <a:spcAft>
                <a:spcPts val="500"/>
              </a:spcAft>
            </a:pPr>
            <a:r>
              <a:rPr sz="1200" b="0" i="0">
                <a:solidFill>
                  <a:srgbClr val="9FB3C8"/>
                </a:solidFill>
                <a:latin typeface="Calibri"/>
              </a:rPr>
              <a:t>Real-time scoreboard synced over Photon</a:t>
            </a:r>
          </a:p>
        </p:txBody>
      </p:sp>
      <p:sp>
        <p:nvSpPr>
          <p:cNvPr id="15" name="Rectangle 14"/>
          <p:cNvSpPr/>
          <p:nvPr/>
        </p:nvSpPr>
        <p:spPr>
          <a:xfrm>
            <a:off x="713232" y="3904488"/>
            <a:ext cx="3493008" cy="13716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3904488"/>
            <a:ext cx="3493008" cy="82296"/>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4133088"/>
            <a:ext cx="3081528" cy="1005840"/>
          </a:xfrm>
          <a:prstGeom prst="rect">
            <a:avLst/>
          </a:prstGeom>
          <a:noFill/>
        </p:spPr>
        <p:txBody>
          <a:bodyPr wrap="square" anchor="t" lIns="0" rIns="0" tIns="0" bIns="0">
            <a:spAutoFit/>
          </a:bodyPr>
          <a:lstStyle/>
          <a:p>
            <a:pPr algn="l">
              <a:lnSpc>
                <a:spcPct val="105000"/>
              </a:lnSpc>
              <a:spcBef>
                <a:spcPts val="0"/>
              </a:spcBef>
              <a:spcAft>
                <a:spcPts val="500"/>
              </a:spcAft>
            </a:pPr>
            <a:r>
              <a:rPr sz="1400" b="1" i="0">
                <a:solidFill>
                  <a:srgbClr val="F5C242"/>
                </a:solidFill>
                <a:latin typeface="Calibri"/>
              </a:rPr>
              <a:t>✦ </a:t>
            </a:r>
            <a:r>
              <a:rPr sz="1500" b="1" i="0">
                <a:solidFill>
                  <a:srgbClr val="FFFFFF"/>
                </a:solidFill>
                <a:latin typeface="Calibri"/>
              </a:rPr>
              <a:t>NETWORKING MINI-GAME</a:t>
            </a:r>
          </a:p>
          <a:p>
            <a:pPr algn="l">
              <a:lnSpc>
                <a:spcPct val="105000"/>
              </a:lnSpc>
              <a:spcBef>
                <a:spcPts val="0"/>
              </a:spcBef>
              <a:spcAft>
                <a:spcPts val="500"/>
              </a:spcAft>
            </a:pPr>
            <a:r>
              <a:rPr sz="1200" b="0" i="0">
                <a:solidFill>
                  <a:srgbClr val="9FB3C8"/>
                </a:solidFill>
                <a:latin typeface="Calibri"/>
              </a:rPr>
              <a:t>Full packet-delivery game with dynamic tiles</a:t>
            </a:r>
          </a:p>
        </p:txBody>
      </p:sp>
      <p:sp>
        <p:nvSpPr>
          <p:cNvPr id="18" name="Rectangle 17"/>
          <p:cNvSpPr/>
          <p:nvPr/>
        </p:nvSpPr>
        <p:spPr>
          <a:xfrm>
            <a:off x="4352544" y="3904488"/>
            <a:ext cx="3493008" cy="13716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52544" y="3904488"/>
            <a:ext cx="3493008"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81144" y="4133088"/>
            <a:ext cx="3081528" cy="1005840"/>
          </a:xfrm>
          <a:prstGeom prst="rect">
            <a:avLst/>
          </a:prstGeom>
          <a:noFill/>
        </p:spPr>
        <p:txBody>
          <a:bodyPr wrap="square" anchor="t" lIns="0" rIns="0" tIns="0" bIns="0">
            <a:spAutoFit/>
          </a:bodyPr>
          <a:lstStyle/>
          <a:p>
            <a:pPr algn="l">
              <a:lnSpc>
                <a:spcPct val="105000"/>
              </a:lnSpc>
              <a:spcBef>
                <a:spcPts val="0"/>
              </a:spcBef>
              <a:spcAft>
                <a:spcPts val="500"/>
              </a:spcAft>
            </a:pPr>
            <a:r>
              <a:rPr sz="1400" b="1" i="0">
                <a:solidFill>
                  <a:srgbClr val="38BDF8"/>
                </a:solidFill>
                <a:latin typeface="Calibri"/>
              </a:rPr>
              <a:t>✦ </a:t>
            </a:r>
            <a:r>
              <a:rPr sz="1500" b="1" i="0">
                <a:solidFill>
                  <a:srgbClr val="FFFFFF"/>
                </a:solidFill>
                <a:latin typeface="Calibri"/>
              </a:rPr>
              <a:t>MATURE MULTIPLAYER</a:t>
            </a:r>
          </a:p>
          <a:p>
            <a:pPr algn="l">
              <a:lnSpc>
                <a:spcPct val="105000"/>
              </a:lnSpc>
              <a:spcBef>
                <a:spcPts val="0"/>
              </a:spcBef>
              <a:spcAft>
                <a:spcPts val="500"/>
              </a:spcAft>
            </a:pPr>
            <a:r>
              <a:rPr sz="1200" b="0" i="0">
                <a:solidFill>
                  <a:srgbClr val="9FB3C8"/>
                </a:solidFill>
                <a:latin typeface="Calibri"/>
              </a:rPr>
              <a:t>Robust rooms, spawning &amp; scene handling</a:t>
            </a:r>
          </a:p>
        </p:txBody>
      </p:sp>
      <p:sp>
        <p:nvSpPr>
          <p:cNvPr id="21" name="Rectangle 20"/>
          <p:cNvSpPr/>
          <p:nvPr/>
        </p:nvSpPr>
        <p:spPr>
          <a:xfrm>
            <a:off x="7991856" y="3904488"/>
            <a:ext cx="3493008" cy="1371600"/>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91856" y="3904488"/>
            <a:ext cx="3493008" cy="8229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4133088"/>
            <a:ext cx="3081528" cy="1005840"/>
          </a:xfrm>
          <a:prstGeom prst="rect">
            <a:avLst/>
          </a:prstGeom>
          <a:noFill/>
        </p:spPr>
        <p:txBody>
          <a:bodyPr wrap="square" anchor="t" lIns="0" rIns="0" tIns="0" bIns="0">
            <a:spAutoFit/>
          </a:bodyPr>
          <a:lstStyle/>
          <a:p>
            <a:pPr algn="l">
              <a:lnSpc>
                <a:spcPct val="105000"/>
              </a:lnSpc>
              <a:spcBef>
                <a:spcPts val="0"/>
              </a:spcBef>
              <a:spcAft>
                <a:spcPts val="500"/>
              </a:spcAft>
            </a:pPr>
            <a:r>
              <a:rPr sz="1400" b="1" i="0">
                <a:solidFill>
                  <a:srgbClr val="2DD4EE"/>
                </a:solidFill>
                <a:latin typeface="Calibri"/>
              </a:rPr>
              <a:t>✦ </a:t>
            </a:r>
            <a:r>
              <a:rPr sz="1500" b="1" i="0">
                <a:solidFill>
                  <a:srgbClr val="FFFFFF"/>
                </a:solidFill>
                <a:latin typeface="Calibri"/>
              </a:rPr>
              <a:t>MORE POLISH</a:t>
            </a:r>
          </a:p>
          <a:p>
            <a:pPr algn="l">
              <a:lnSpc>
                <a:spcPct val="105000"/>
              </a:lnSpc>
              <a:spcBef>
                <a:spcPts val="0"/>
              </a:spcBef>
              <a:spcAft>
                <a:spcPts val="500"/>
              </a:spcAft>
            </a:pPr>
            <a:r>
              <a:rPr sz="1200" b="0" i="0">
                <a:solidFill>
                  <a:srgbClr val="9FB3C8"/>
                </a:solidFill>
                <a:latin typeface="Calibri"/>
              </a:rPr>
              <a:t>Visual feedback, HUD, cleaner architecture</a:t>
            </a:r>
          </a:p>
        </p:txBody>
      </p:sp>
      <p:sp>
        <p:nvSpPr>
          <p:cNvPr id="24" name="TextBox 23"/>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25" name="TextBox 24"/>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GROWTH</a:t>
            </a:r>
          </a:p>
        </p:txBody>
      </p:sp>
      <p:sp>
        <p:nvSpPr>
          <p:cNvPr id="26" name="TextBox 25"/>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457200" y="502920"/>
            <a:ext cx="128016" cy="868680"/>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F5C242"/>
                </a:solidFill>
                <a:latin typeface="Calibri"/>
              </a:rPr>
              <a:t>10  ·  WHAT'S NEXT</a:t>
            </a:r>
          </a:p>
        </p:txBody>
      </p:sp>
      <p:sp>
        <p:nvSpPr>
          <p:cNvPr id="4" name="TextBox 3"/>
          <p:cNvSpPr txBox="1"/>
          <p:nvPr/>
        </p:nvSpPr>
        <p:spPr>
          <a:xfrm>
            <a:off x="713232" y="777240"/>
            <a:ext cx="10789920" cy="7772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Calibri"/>
              </a:rPr>
              <a:t>The Road Ahead</a:t>
            </a:r>
          </a:p>
        </p:txBody>
      </p:sp>
      <p:sp>
        <p:nvSpPr>
          <p:cNvPr id="5" name="Rectangle 4"/>
          <p:cNvSpPr/>
          <p:nvPr/>
        </p:nvSpPr>
        <p:spPr>
          <a:xfrm>
            <a:off x="713232" y="1874519"/>
            <a:ext cx="5349240" cy="1078992"/>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874519"/>
            <a:ext cx="82296" cy="1078992"/>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039111"/>
            <a:ext cx="4846320" cy="86868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FFFFFF"/>
                </a:solidFill>
                <a:latin typeface="Calibri"/>
              </a:rPr>
              <a:t>FINISH EVERY JOB</a:t>
            </a:r>
          </a:p>
          <a:p>
            <a:pPr algn="l">
              <a:lnSpc>
                <a:spcPct val="105000"/>
              </a:lnSpc>
              <a:spcBef>
                <a:spcPts val="0"/>
              </a:spcBef>
              <a:spcAft>
                <a:spcPts val="300"/>
              </a:spcAft>
            </a:pPr>
            <a:r>
              <a:rPr sz="1200" b="0" i="0">
                <a:solidFill>
                  <a:srgbClr val="9FB3C8"/>
                </a:solidFill>
                <a:latin typeface="Calibri"/>
              </a:rPr>
              <a:t>Complete the Chef and Firefighter mini-games to full depth.</a:t>
            </a:r>
          </a:p>
        </p:txBody>
      </p:sp>
      <p:sp>
        <p:nvSpPr>
          <p:cNvPr id="8" name="Rectangle 7"/>
          <p:cNvSpPr/>
          <p:nvPr/>
        </p:nvSpPr>
        <p:spPr>
          <a:xfrm>
            <a:off x="713232" y="3136391"/>
            <a:ext cx="5349240" cy="1078992"/>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3136391"/>
            <a:ext cx="82296" cy="1078992"/>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3300983"/>
            <a:ext cx="4846320" cy="86868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FFFFFF"/>
                </a:solidFill>
                <a:latin typeface="Calibri"/>
              </a:rPr>
              <a:t>CAREER QUEST MODE</a:t>
            </a:r>
          </a:p>
          <a:p>
            <a:pPr algn="l">
              <a:lnSpc>
                <a:spcPct val="105000"/>
              </a:lnSpc>
              <a:spcBef>
                <a:spcPts val="0"/>
              </a:spcBef>
              <a:spcAft>
                <a:spcPts val="300"/>
              </a:spcAft>
            </a:pPr>
            <a:r>
              <a:rPr sz="1200" b="0" i="0">
                <a:solidFill>
                  <a:srgbClr val="9FB3C8"/>
                </a:solidFill>
                <a:latin typeface="Calibri"/>
              </a:rPr>
              <a:t>A progression path that guides players through all four jobs.</a:t>
            </a:r>
          </a:p>
        </p:txBody>
      </p:sp>
      <p:sp>
        <p:nvSpPr>
          <p:cNvPr id="11" name="Rectangle 10"/>
          <p:cNvSpPr/>
          <p:nvPr/>
        </p:nvSpPr>
        <p:spPr>
          <a:xfrm>
            <a:off x="713232" y="4398263"/>
            <a:ext cx="5349240" cy="1078992"/>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 y="4398263"/>
            <a:ext cx="82296" cy="10789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562855"/>
            <a:ext cx="4846320" cy="86868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FFFFFF"/>
                </a:solidFill>
                <a:latin typeface="Calibri"/>
              </a:rPr>
              <a:t>MORE CAREERS</a:t>
            </a:r>
          </a:p>
          <a:p>
            <a:pPr algn="l">
              <a:lnSpc>
                <a:spcPct val="105000"/>
              </a:lnSpc>
              <a:spcBef>
                <a:spcPts val="0"/>
              </a:spcBef>
              <a:spcAft>
                <a:spcPts val="300"/>
              </a:spcAft>
            </a:pPr>
            <a:r>
              <a:rPr sz="1200" b="0" i="0">
                <a:solidFill>
                  <a:srgbClr val="9FB3C8"/>
                </a:solidFill>
                <a:latin typeface="Calibri"/>
              </a:rPr>
              <a:t>Our framework makes adding the next job straightforward.</a:t>
            </a:r>
          </a:p>
        </p:txBody>
      </p:sp>
      <p:sp>
        <p:nvSpPr>
          <p:cNvPr id="14" name="Rectangle 13"/>
          <p:cNvSpPr/>
          <p:nvPr/>
        </p:nvSpPr>
        <p:spPr>
          <a:xfrm>
            <a:off x="6382512" y="1874519"/>
            <a:ext cx="5349240" cy="1078992"/>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2512" y="1874519"/>
            <a:ext cx="82296" cy="107899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2039111"/>
            <a:ext cx="4846320" cy="86868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FFFFFF"/>
                </a:solidFill>
                <a:latin typeface="Calibri"/>
              </a:rPr>
              <a:t>DEEPER LEARNING</a:t>
            </a:r>
          </a:p>
          <a:p>
            <a:pPr algn="l">
              <a:lnSpc>
                <a:spcPct val="105000"/>
              </a:lnSpc>
              <a:spcBef>
                <a:spcPts val="0"/>
              </a:spcBef>
              <a:spcAft>
                <a:spcPts val="300"/>
              </a:spcAft>
            </a:pPr>
            <a:r>
              <a:rPr sz="1200" b="0" i="0">
                <a:solidFill>
                  <a:srgbClr val="9FB3C8"/>
                </a:solidFill>
                <a:latin typeface="Calibri"/>
              </a:rPr>
              <a:t>In-game tips that explain the real concept behind each task.</a:t>
            </a:r>
          </a:p>
        </p:txBody>
      </p:sp>
      <p:sp>
        <p:nvSpPr>
          <p:cNvPr id="17" name="Rectangle 16"/>
          <p:cNvSpPr/>
          <p:nvPr/>
        </p:nvSpPr>
        <p:spPr>
          <a:xfrm>
            <a:off x="6382512" y="3136391"/>
            <a:ext cx="5349240" cy="1078992"/>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82512" y="3136391"/>
            <a:ext cx="82296" cy="1078992"/>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3300983"/>
            <a:ext cx="4846320" cy="86868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FFFFFF"/>
                </a:solidFill>
                <a:latin typeface="Calibri"/>
              </a:rPr>
              <a:t>FRIENDS &amp; PARTIES</a:t>
            </a:r>
          </a:p>
          <a:p>
            <a:pPr algn="l">
              <a:lnSpc>
                <a:spcPct val="105000"/>
              </a:lnSpc>
              <a:spcBef>
                <a:spcPts val="0"/>
              </a:spcBef>
              <a:spcAft>
                <a:spcPts val="300"/>
              </a:spcAft>
            </a:pPr>
            <a:r>
              <a:rPr sz="1200" b="0" i="0">
                <a:solidFill>
                  <a:srgbClr val="9FB3C8"/>
                </a:solidFill>
                <a:latin typeface="Calibri"/>
              </a:rPr>
              <a:t>Invite friends directly and form persistent teams.</a:t>
            </a:r>
          </a:p>
        </p:txBody>
      </p:sp>
      <p:sp>
        <p:nvSpPr>
          <p:cNvPr id="20" name="Rectangle 19"/>
          <p:cNvSpPr/>
          <p:nvPr/>
        </p:nvSpPr>
        <p:spPr>
          <a:xfrm>
            <a:off x="6382512" y="4398263"/>
            <a:ext cx="5349240" cy="1078992"/>
          </a:xfrm>
          <a:prstGeom prst="rect">
            <a:avLst/>
          </a:prstGeom>
          <a:solidFill>
            <a:srgbClr val="162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82512" y="4398263"/>
            <a:ext cx="82296" cy="10789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56832" y="4562855"/>
            <a:ext cx="4846320" cy="86868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FFFFFF"/>
                </a:solidFill>
                <a:latin typeface="Calibri"/>
              </a:rPr>
              <a:t>ACCESSIBILITY &amp; POLISH</a:t>
            </a:r>
          </a:p>
          <a:p>
            <a:pPr algn="l">
              <a:lnSpc>
                <a:spcPct val="105000"/>
              </a:lnSpc>
              <a:spcBef>
                <a:spcPts val="0"/>
              </a:spcBef>
              <a:spcAft>
                <a:spcPts val="300"/>
              </a:spcAft>
            </a:pPr>
            <a:r>
              <a:rPr sz="1200" b="0" i="0">
                <a:solidFill>
                  <a:srgbClr val="9FB3C8"/>
                </a:solidFill>
                <a:latin typeface="Calibri"/>
              </a:rPr>
              <a:t>Tutorials, settings, and quality-of-life across the board.</a:t>
            </a:r>
          </a:p>
        </p:txBody>
      </p:sp>
      <p:sp>
        <p:nvSpPr>
          <p:cNvPr id="23" name="TextBox 22"/>
          <p:cNvSpPr txBox="1"/>
          <p:nvPr/>
        </p:nvSpPr>
        <p:spPr>
          <a:xfrm>
            <a:off x="457200" y="6419088"/>
            <a:ext cx="5486400" cy="320040"/>
          </a:xfrm>
          <a:prstGeom prst="rect">
            <a:avLst/>
          </a:prstGeom>
          <a:noFill/>
        </p:spPr>
        <p:txBody>
          <a:bodyPr wrap="square" anchor="ctr" lIns="0" rIns="0" tIns="0" bIns="0">
            <a:spAutoFit/>
          </a:bodyPr>
          <a:lstStyle/>
          <a:p>
            <a:pPr algn="l">
              <a:lnSpc>
                <a:spcPct val="100000"/>
              </a:lnSpc>
              <a:spcBef>
                <a:spcPts val="0"/>
              </a:spcBef>
              <a:spcAft>
                <a:spcPts val="600"/>
              </a:spcAft>
            </a:pPr>
            <a:r>
              <a:rPr sz="900" b="1" i="0">
                <a:solidFill>
                  <a:srgbClr val="9FB3C8"/>
                </a:solidFill>
                <a:latin typeface="Calibri"/>
              </a:rPr>
              <a:t>CLOCK-IN</a:t>
            </a:r>
            <a:r>
              <a:rPr sz="900" b="0" i="0">
                <a:solidFill>
                  <a:srgbClr val="9FB3C8"/>
                </a:solidFill>
                <a:latin typeface="Calibri"/>
              </a:rPr>
              <a:t>   |   FBLA National Leadership Conference 2026</a:t>
            </a:r>
          </a:p>
        </p:txBody>
      </p:sp>
      <p:sp>
        <p:nvSpPr>
          <p:cNvPr id="24" name="TextBox 23"/>
          <p:cNvSpPr txBox="1"/>
          <p:nvPr/>
        </p:nvSpPr>
        <p:spPr>
          <a:xfrm>
            <a:off x="6400800" y="6419088"/>
            <a:ext cx="484632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0" i="0">
                <a:solidFill>
                  <a:srgbClr val="9FB3C8"/>
                </a:solidFill>
                <a:latin typeface="Calibri"/>
              </a:rPr>
              <a:t>WHAT'S NEXT</a:t>
            </a:r>
          </a:p>
        </p:txBody>
      </p:sp>
      <p:sp>
        <p:nvSpPr>
          <p:cNvPr id="25" name="TextBox 24"/>
          <p:cNvSpPr txBox="1"/>
          <p:nvPr/>
        </p:nvSpPr>
        <p:spPr>
          <a:xfrm>
            <a:off x="11430000" y="6419088"/>
            <a:ext cx="548640" cy="320040"/>
          </a:xfrm>
          <a:prstGeom prst="rect">
            <a:avLst/>
          </a:prstGeom>
          <a:noFill/>
        </p:spPr>
        <p:txBody>
          <a:bodyPr wrap="square" anchor="ctr" lIns="0" rIns="0" tIns="0" bIns="0">
            <a:spAutoFit/>
          </a:bodyPr>
          <a:lstStyle/>
          <a:p>
            <a:pPr algn="r">
              <a:lnSpc>
                <a:spcPct val="100000"/>
              </a:lnSpc>
              <a:spcBef>
                <a:spcPts val="0"/>
              </a:spcBef>
              <a:spcAft>
                <a:spcPts val="600"/>
              </a:spcAft>
            </a:pPr>
            <a:r>
              <a:rPr sz="900" b="1" i="0">
                <a:solidFill>
                  <a:srgbClr val="2DD4E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1188720"/>
          </a:xfrm>
          <a:prstGeom prst="rect">
            <a:avLst/>
          </a:prstGeom>
          <a:noFill/>
        </p:spPr>
        <p:txBody>
          <a:bodyPr wrap="square" anchor="t" lIns="0" rIns="0" tIns="0" bIns="0">
            <a:spAutoFit/>
          </a:bodyPr>
          <a:lstStyle/>
          <a:p>
            <a:pPr algn="l">
              <a:lnSpc>
                <a:spcPct val="100000"/>
              </a:lnSpc>
              <a:spcBef>
                <a:spcPts val="0"/>
              </a:spcBef>
              <a:spcAft>
                <a:spcPts val="600"/>
              </a:spcAft>
            </a:pPr>
            <a:r>
              <a:rPr sz="6400" b="1" i="0">
                <a:solidFill>
                  <a:srgbClr val="FFFFFF"/>
                </a:solidFill>
                <a:latin typeface="Calibri"/>
              </a:rPr>
              <a:t>Thank You</a:t>
            </a:r>
          </a:p>
        </p:txBody>
      </p:sp>
      <p:sp>
        <p:nvSpPr>
          <p:cNvPr id="5" name="TextBox 4"/>
          <p:cNvSpPr txBox="1"/>
          <p:nvPr/>
        </p:nvSpPr>
        <p:spPr>
          <a:xfrm>
            <a:off x="868680" y="3200400"/>
            <a:ext cx="10058400" cy="548640"/>
          </a:xfrm>
          <a:prstGeom prst="rect">
            <a:avLst/>
          </a:prstGeom>
          <a:noFill/>
        </p:spPr>
        <p:txBody>
          <a:bodyPr wrap="square" anchor="t" lIns="0" rIns="0" tIns="0" bIns="0">
            <a:spAutoFit/>
          </a:bodyPr>
          <a:lstStyle/>
          <a:p>
            <a:pPr algn="l">
              <a:lnSpc>
                <a:spcPct val="100000"/>
              </a:lnSpc>
              <a:spcBef>
                <a:spcPts val="0"/>
              </a:spcBef>
              <a:spcAft>
                <a:spcPts val="600"/>
              </a:spcAft>
            </a:pPr>
            <a:r>
              <a:rPr sz="2000" b="0" i="1">
                <a:solidFill>
                  <a:srgbClr val="2DD4EE"/>
                </a:solidFill>
                <a:latin typeface="Calibri"/>
              </a:rPr>
              <a:t>We'd love to answer your questions about Clock-In.</a:t>
            </a:r>
          </a:p>
        </p:txBody>
      </p:sp>
      <p:sp>
        <p:nvSpPr>
          <p:cNvPr id="6" name="Rectangle 5"/>
          <p:cNvSpPr/>
          <p:nvPr/>
        </p:nvSpPr>
        <p:spPr>
          <a:xfrm>
            <a:off x="868680" y="3886200"/>
            <a:ext cx="4206240" cy="36576"/>
          </a:xfrm>
          <a:prstGeom prst="rect">
            <a:avLst/>
          </a:prstGeom>
          <a:solidFill>
            <a:srgbClr val="2DD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114800"/>
            <a:ext cx="10058400" cy="1097280"/>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38BDF8"/>
                </a:solidFill>
                <a:latin typeface="Calibri"/>
              </a:rPr>
              <a:t>CLOCK-IN</a:t>
            </a:r>
            <a:r>
              <a:rPr sz="1600" b="0" i="0">
                <a:solidFill>
                  <a:srgbClr val="9FB3C8"/>
                </a:solidFill>
                <a:latin typeface="Calibri"/>
              </a:rPr>
              <a:t>  ·  Parallel Play</a:t>
            </a:r>
          </a:p>
          <a:p>
            <a:pPr algn="l">
              <a:lnSpc>
                <a:spcPct val="100000"/>
              </a:lnSpc>
              <a:spcBef>
                <a:spcPts val="0"/>
              </a:spcBef>
              <a:spcAft>
                <a:spcPts val="600"/>
              </a:spcAft>
            </a:pPr>
            <a:r>
              <a:rPr sz="1700" b="1" i="0">
                <a:solidFill>
                  <a:srgbClr val="F1F5F9"/>
                </a:solidFill>
                <a:latin typeface="Calibri"/>
              </a:rPr>
              <a:t>Jackson Krizan   ·   Blayne Campbell   ·   Jakob Escueta</a:t>
            </a:r>
          </a:p>
          <a:p>
            <a:pPr algn="l">
              <a:lnSpc>
                <a:spcPct val="100000"/>
              </a:lnSpc>
              <a:spcBef>
                <a:spcPts val="0"/>
              </a:spcBef>
              <a:spcAft>
                <a:spcPts val="600"/>
              </a:spcAft>
            </a:pPr>
            <a:r>
              <a:rPr sz="1300" b="0" i="0">
                <a:solidFill>
                  <a:srgbClr val="9FB3C8"/>
                </a:solidFill>
                <a:latin typeface="Calibri"/>
              </a:rPr>
              <a:t>FBLA National Leadership Conference 2026  ·  Computer Game &amp; Simulation Programming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